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a2c35f3-01ea-947a-590e-c2939bb10713}">
          <p14:sldIdLst>
            <p14:sldId id="256"/>
            <p14:sldId id="257"/>
          </p14:sldIdLst>
        </p14:section>
        <p14:section name="Models and data" id="{90fafdb8-1b95-5b08-6a32-12e8e63fd032}">
          <p14:sldIdLst>
            <p14:sldId id="258"/>
            <p14:sldId id="259"/>
            <p14:sldId id="260"/>
            <p14:sldId id="261"/>
          </p14:sldIdLst>
        </p14:section>
        <p14:section name="Simulation app" id="{6e1926bc-68c3-7957-640c-a54c81852c8e}">
          <p14:sldIdLst>
            <p14:sldId id="262"/>
            <p14:sldId id="263"/>
            <p14:sldId id="264"/>
            <p14:sldId id="265"/>
            <p14:sldId id="266"/>
          </p14:sldIdLst>
        </p14:section>
        <p14:section name="Results" id="{549d3318-da39-a0d1-24ff-c4b3273eeb50}">
          <p14:sldIdLst>
            <p14:sldId id="267"/>
            <p14:sldId id="268"/>
            <p14:sldId id="269"/>
            <p14:sldId id="270"/>
            <p14:sldId id="271"/>
            <p14:sldId id="272"/>
            <p14:sldId id="273"/>
            <p14:sldId id="274"/>
            <p14:sldId id="275"/>
            <p14:sldId id="276"/>
            <p14:sldId id="277"/>
            <p14:sldId id="278"/>
            <p14:sldId id="279"/>
            <p14:sldId id="280"/>
          </p14:sldIdLst>
        </p14:section>
        <p14:section name="Training logs" id="{dfda3f9a-008b-2f49-fb15-1cbad2920d36}">
          <p14:sldIdLst>
            <p14:sldId id="281"/>
            <p14:sldId id="282"/>
          </p14:sldIdLst>
        </p14:section>
        <p14:section name="Conclusions" id="{5667282f-cd3e-0be8-2ad7-eef572e6ee8a}">
          <p14:sldIdLst>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2 m temperature RMSE (K)</c:v>
                </c:pt>
              </c:strCache>
            </c:strRef>
          </c:tx>
          <c:spPr>
            <a:solidFill>
              <a:srgbClr val="9CA3AF"/>
            </a:solidFill>
            <a:effectLst/>
          </c:spPr>
          <c:invertIfNegative val="0"/>
          <c:dLbls>
            <c:numFmt formatCode="0.000" sourceLinked="0"/>
            <c:txPr>
              <a:bodyPr/>
              <a:lstStyle/>
              <a:p>
                <a:pPr>
                  <a:defRPr b="0" i="0" strike="noStrike" sz="13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9CA3AF"/>
              </a:solidFill>
              <a:effectLst/>
            </c:spPr>
          </c:dPt>
          <c:dPt>
            <c:idx val="1"/>
            <c:invertIfNegative val="0"/>
            <c:bubble3D val="0"/>
            <c:spPr>
              <a:solidFill>
                <a:srgbClr val="9CA3AF"/>
              </a:solidFill>
              <a:effectLst/>
            </c:spPr>
          </c:dPt>
          <c:dPt>
            <c:idx val="2"/>
            <c:invertIfNegative val="0"/>
            <c:bubble3D val="0"/>
            <c:spPr>
              <a:solidFill>
                <a:srgbClr val="2F6DB5"/>
              </a:solidFill>
              <a:effectLst/>
            </c:spPr>
          </c:dPt>
          <c:dPt>
            <c:idx val="3"/>
            <c:invertIfNegative val="0"/>
            <c:bubble3D val="0"/>
            <c:spPr>
              <a:solidFill>
                <a:srgbClr val="4B5563"/>
              </a:solidFill>
              <a:effectLst/>
            </c:spPr>
          </c:dPt>
          <c:dPt>
            <c:idx val="4"/>
            <c:invertIfNegative val="0"/>
            <c:bubble3D val="0"/>
            <c:spPr>
              <a:solidFill>
                <a:srgbClr val="D1D5DB"/>
              </a:solidFill>
              <a:effectLst/>
            </c:spPr>
          </c:dPt>
          <c:cat>
            <c:multiLvlStrRef>
              <c:f>Sheet1!$A$2:$A$6</c:f>
              <c:multiLvlStrCache>
                <c:ptCount val="5"/>
                <c:lvl>
                  <c:pt idx="0">
                    <c:v>Unweighted loss, observed Niño 3.4</c:v>
                  </c:pt>
                  <c:pt idx="1">
                    <c:v>Unconditioned, input fixed at zero</c:v>
                  </c:pt>
                  <c:pt idx="2">
                    <c:v>Main model, observed Niño 3.4</c:v>
                  </c:pt>
                  <c:pt idx="3">
                    <c:v>Conditioned on TFT forecasts (worst)</c:v>
                  </c:pt>
                  <c:pt idx="4">
                    <c:v>Persistence</c:v>
                  </c:pt>
                </c:lvl>
              </c:multiLvlStrCache>
            </c:multiLvlStrRef>
          </c:cat>
          <c:val>
            <c:numRef>
              <c:f>Sheet1!$B$2:$B$6</c:f>
              <c:numCache>
                <c:formatCode>General</c:formatCode>
                <c:ptCount val="5"/>
                <c:pt idx="0">
                  <c:v>1.164</c:v>
                </c:pt>
                <c:pt idx="1">
                  <c:v>1.195</c:v>
                </c:pt>
                <c:pt idx="2">
                  <c:v>1.214</c:v>
                </c:pt>
                <c:pt idx="3">
                  <c:v>1.335</c:v>
                </c:pt>
                <c:pt idx="4">
                  <c:v>2.457</c:v>
                </c:pt>
              </c:numCache>
            </c:numRef>
          </c:val>
        </c:ser>
        <c:dLbls>
          <c:numFmt formatCode="0.000" sourceLinked="0"/>
          <c:txPr>
            <a:bodyPr/>
            <a:lstStyle/>
            <a:p>
              <a:pPr>
                <a:defRPr b="0" i="0" strike="noStrike" sz="1300" u="none">
                  <a:solidFill>
                    <a:srgbClr val="1F293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2.6"/>
          <c:min val="0"/>
        </c:scaling>
        <c:delete val="0"/>
        <c:axPos val="b"/>
        <c:majorGridlines>
          <c:spPr>
            <a:ln w="9525" cap="flat">
              <a:solidFill>
                <a:srgbClr val="E5E7EB"/>
              </a:solidFill>
              <a:prstDash val="solid"/>
              <a:round/>
            </a:ln>
          </c:spPr>
        </c:majorGridlines>
        <c:title>
          <c:tx>
            <c:rich>
              <a:bodyPr/>
              <a:lstStyle/>
              <a:p>
                <a:pPr>
                  <a:defRPr sz="1200" b="0" i="0" u="none" strike="noStrike">
                    <a:solidFill>
                      <a:srgbClr val="6B7280"/>
                    </a:solidFill>
                    <a:latin typeface="Arial"/>
                  </a:defRPr>
                </a:pPr>
                <a:r>
                  <a:rPr sz="1200" b="0" i="0" u="none" strike="noStrike">
                    <a:solidFill>
                      <a:srgbClr val="6B7280"/>
                    </a:solidFill>
                    <a:latin typeface="Arial"/>
                  </a:rPr>
                  <a:t>RMSE (K)</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ClimatePulse combines four climate modelling tasks in one reproducible pipeline. Every number in this deck comes from the saved run 20261027_230426, the same snapshot the research paper and patent application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Persistence means assuming tomorrow, or next month, looks like today. It is the minimum any forecast must beat. Always-alert means predicting an unhealthy-air day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TFT: Lim et al. 2021. A3TGCN: Bai et al. The weather model adapts GraphCast and Keisler's encoder-processor-decoder from an icosahedral mesh to a Fibonacci mesh. The change-point model is fitted by Prais-Winsten GLS and searches zero to three breaks exhaustively.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 et al. reached 18-month ENSO leads with CNNs but without calibrated uncertainty. DCRNN's diffusion convolution suits advection-diffusion over irregular networks, as does A3TGCN. FourCastNet uses Fourier neural operators on a regular grid; GraphCast and Keisler use icosahedral meshes with fixed subdivision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ERSST is monthly on a 2 degree grid; ERA5 is 6-hourly at 5.625 degrees, 2,924 time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source is fetched with caching, cleaned by its own function in cleaning.py, and turned into features in feature_engineering.py. DataPipeline registers every source in a JSON metadata file. The splits and training-only normalisation happen later, inside each model's dataset module. The Bayesian regression is optional and not used in any reported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in src/app and runs with make app. It reads the same checkpoints and evaluation code as the paper, so its numbers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 forward feeds the model its own output, which it was never trained or tested for, so the page warns about it. Predictions are computed one sample at a time, giving 1.217 K against the reported 1.214 K in batches of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seed-42 main-run forecasts. Across five seeds the TFT averages RMSE 0.78 degrees, so its edge over the LSTM is within run-to-run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cached OpenAQ record has a median of one reporting station per date, and only 85 observed test station-days. The exceedance F1 equals an always-alert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neural network is involved: a continuous piecewise-linear trend with AR(1) errors is fitted to annual global means, and BIC chooses the number of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compares a model's squared error with persistence's: 0 means no better than repeating the last value, 1 would be perfect. The TFT variant, with or without the calendar year, was chosen on validation loss before looking at test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Persistence is the standard reference in forecasting because it is free and surprisingly strong when a quantity changes slowly. MSE is mean squared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size 32 for the TFT, LSTM and NWM; the A3TGCN trains on one graph window per step. The best checkpoint by validation loss is kept in every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Gated residual networks let the model switch off inputs that do not help. Attention lets each forecast step look back at any month in the 60-month window. Dropout 0.1 throughout. Training uses 573 windows, validation 127 and test 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Removing the calendar-year covariate lowered mean validation loss from 0.331 to 0.283, so that variant was selected before looking at test results. The TFT's RMSE spread is nearly four times the LSTM's. The seed-42 main run scored better than this average, RMSE 0.684.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leads favour persistence because Niño 3.4 changes slowly from month to month; the learned models earn their keep from about three months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LSTM never sees the calendar year and shares the bias, so the year covariate is not the cause. The likelier cause is non-stationarity. Coverage of 75.7 percent is for the main run; the five-seed mean is 63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ingested record holds 10,000 hourly readings, the configured download limit, covering only 180 distinct dates, so consecutive snapshots are usually not consecutive days. A longer OpenAQ download is the first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readings are masked in training and evaluation. Of the 85 observed test station-days, 62 fall on two dates and 70.6 percent exceed the threshold, which makes always-alert a strong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mesh follows a golden-angle spiral. Edges come from nearest-neighbour searches in 3-D: 4 mesh neighbours per grid point, 8 per mesh node. The loss is weighted by the cosine of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grid point's 12 inputs are temperature and precipitation at two time steps plus sin and cos of latitude and longitude. The batching method is what patent claims 8 and 9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validation loss 0.1173 at epoch 70 of 81, with a train-validation gap of about 9 percent: mild overfitting at most. Normalisation statistics come from the training period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a 6-hour step, the recent atmospheric state carries far more information than a monthly ENSO index, and 2020 to 2021 spans a single La Niña episode, so the index barely varies. Precipitation error is the same across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Fitted by Prais-Winsten GLS with AR(1) errors, searching zero to three breaks exhaustively with segments of at least 10 years. A lower BIC means a better balance of fit and simplicity.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TFT trained in under a minute; its best validation quantile loss was 0.2875, which matches the checkpoint name tft-epoch=13-val_loss=0.2875. The LSTM stopped at epoch 21. The pollution model ran all 100 epochs and keeps the best validation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model trained from 14:37 to 16:33, about 86 seconds per epoch. The three ablation variants trained in parallel from 16:53 to 22:06. The best validation loss, 0.117334, matches the paper's 0.1173.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5 and 6, on the area-weighted loss and the normalisation statistics, also need attention. The strongest technical effects to argue are halving the persistence error and the batch-offset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Multi-year weather training spanning several ENSO phases, and longer lead times, are needed before ENSO conditioning can be properly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tft_use_year from elnino_seed_selection.json into configs/runtime_conf.yaml before the main El Niño run; the Colab notebook does this automatically. The ablation scores the main weather model, and exporting TFT forecasts needs the main TFT.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3F4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463040"/>
            <a:ext cx="10566095" cy="1280160"/>
          </a:xfrm>
          <a:prstGeom prst="rect">
            <a:avLst/>
          </a:prstGeom>
          <a:noFill/>
          <a:ln/>
        </p:spPr>
        <p:txBody>
          <a:bodyPr wrap="square" rtlCol="0"/>
          <a:lstStyle>
            <a:lvl1pPr algn="l" indent="0" marL="0">
              <a:buNone/>
              <a:defRPr lang="en-US" sz="7200" dirty="0">
                <a:solidFill>
                  <a:schemeClr val="tx1"/>
                </a:solidFill>
              </a:defRPr>
            </a:lvl1pPr>
          </a:lstStyle>
          <a:p>
            <a:pPr algn="l" indent="0" marL="0">
              <a:buNone/>
            </a:pPr>
            <a:endParaRPr lang="en-US" sz="7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D">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822960"/>
            <a:ext cx="10566095" cy="73152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LT">
    <p:bg>
      <p:bgPr>
        <a:solidFill>
          <a:srgbClr val="F3F4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822960"/>
            <a:ext cx="10566095" cy="73152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1F293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822960"/>
            <a:ext cx="10566095" cy="731520"/>
          </a:xfrm>
          <a:prstGeom prst="rect">
            <a:avLst/>
          </a:prstGeom>
          <a:noFill/>
          <a:ln/>
        </p:spPr>
        <p:txBody>
          <a:bodyPr wrap="square" rtlCol="0"/>
          <a:lstStyle>
            <a:lvl1pPr algn="l" indent="0" marL="0">
              <a:buNone/>
              <a:defRPr lang="en-US" sz="3200"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Eyebrow"/>
          <p:cNvSpPr txBox="1"/>
          <p:nvPr/>
        </p:nvSpPr>
        <p:spPr>
          <a:xfrm>
            <a:off x="812800" y="1097280"/>
            <a:ext cx="10566095"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RESEARCH RESULTS · RUN 20261027_230426</a:t>
            </a:r>
            <a:endParaRPr lang="en-US" sz="1200" dirty="0"/>
          </a:p>
        </p:txBody>
      </p:sp>
      <p:sp>
        <p:nvSpPr>
          <p:cNvPr id="4" name="Text 0"/>
          <p:cNvSpPr/>
          <p:nvPr>
            <p:ph idx="100" type="title" hasCustomPrompt="1"/>
          </p:nvPr>
        </p:nvSpPr>
        <p:spPr>
          <a:xfrm>
            <a:off x="812800" y="1463040"/>
            <a:ext cx="10566095" cy="1280160"/>
          </a:xfrm>
          <a:prstGeom prst="rect">
            <a:avLst/>
          </a:prstGeom>
          <a:noFill/>
          <a:ln/>
        </p:spPr>
        <p:txBody>
          <a:bodyPr wrap="square" lIns="0" tIns="0" rIns="0" bIns="0" rtlCol="0" anchor="t"/>
          <a:lstStyle/>
          <a:p>
            <a:pPr algn="l" indent="0" marL="0">
              <a:buNone/>
            </a:pPr>
            <a:r>
              <a:rPr lang="en-US" sz="7200" dirty="0">
                <a:solidFill>
                  <a:schemeClr val="tx1"/>
                </a:solidFill>
              </a:rPr>
              <a:t>ClimatePulse</a:t>
            </a:r>
            <a:endParaRPr lang="en-US" sz="7200" dirty="0"/>
          </a:p>
        </p:txBody>
      </p:sp>
      <p:sp>
        <p:nvSpPr>
          <p:cNvPr id="5" name="Subtitle"/>
          <p:cNvSpPr txBox="1"/>
          <p:nvPr/>
        </p:nvSpPr>
        <p:spPr>
          <a:xfrm>
            <a:off x="812800" y="2834640"/>
            <a:ext cx="8869680" cy="914400"/>
          </a:xfrm>
          <a:prstGeom prst="rect">
            <a:avLst/>
          </a:prstGeom>
          <a:noFill/>
          <a:ln/>
        </p:spPr>
        <p:txBody>
          <a:bodyPr wrap="square" lIns="0" tIns="0" rIns="0" bIns="0" rtlCol="0" anchor="t"/>
          <a:lstStyle/>
          <a:p>
            <a:pPr indent="0" marL="0">
              <a:buNone/>
            </a:pPr>
            <a:r>
              <a:rPr lang="en-US" sz="2200" dirty="0">
                <a:solidFill>
                  <a:schemeClr val="tx2"/>
                </a:solidFill>
                <a:latin typeface="+mj-lt" pitchFamily="34" charset="0"/>
                <a:ea typeface="+mj-lt" pitchFamily="34" charset="-122"/>
                <a:cs typeface="+mj-lt" pitchFamily="34" charset="-120"/>
              </a:rPr>
              <a:t>Temporal Fusion Transformers and Spatio-Temporal Graph Networks in Climate Modeling</a:t>
            </a:r>
            <a:endParaRPr lang="en-US" sz="2200" dirty="0"/>
          </a:p>
        </p:txBody>
      </p:sp>
      <p:sp>
        <p:nvSpPr>
          <p:cNvPr id="6" name="Summary"/>
          <p:cNvSpPr txBox="1"/>
          <p:nvPr/>
        </p:nvSpPr>
        <p:spPr>
          <a:xfrm>
            <a:off x="812800" y="3840480"/>
            <a:ext cx="9509760" cy="640080"/>
          </a:xfrm>
          <a:prstGeom prst="rect">
            <a:avLst/>
          </a:prstGeom>
          <a:noFill/>
          <a:ln/>
        </p:spPr>
        <p:txBody>
          <a:bodyPr wrap="square" lIns="0" tIns="0" rIns="0" bIns="0" rtlCol="0" anchor="t"/>
          <a:lstStyle/>
          <a:p>
            <a:pPr indent="0" marL="0">
              <a:buNone/>
            </a:pPr>
            <a:r>
              <a:rPr lang="en-US" sz="1400" dirty="0">
                <a:solidFill>
                  <a:schemeClr val="tx2"/>
                </a:solidFill>
              </a:rPr>
              <a:t>An open-source pipeline that forecasts El Niño, air pollution and global weather, and detects changes in the warming rate, with every result rebuilt from one script.</a:t>
            </a:r>
            <a:endParaRPr lang="en-US" sz="1400" dirty="0"/>
          </a:p>
        </p:txBody>
      </p:sp>
      <p:sp>
        <p:nvSpPr>
          <p:cNvPr id="7" name="Authors"/>
          <p:cNvSpPr txBox="1"/>
          <p:nvPr/>
        </p:nvSpPr>
        <p:spPr>
          <a:xfrm>
            <a:off x="812800" y="4846320"/>
            <a:ext cx="10566095" cy="320040"/>
          </a:xfrm>
          <a:prstGeom prst="rect">
            <a:avLst/>
          </a:prstGeom>
          <a:noFill/>
          <a:ln/>
        </p:spPr>
        <p:txBody>
          <a:bodyPr wrap="square" lIns="0" tIns="0" rIns="0" bIns="0" rtlCol="0" anchor="ctr"/>
          <a:lstStyle/>
          <a:p>
            <a:pPr indent="0" marL="0">
              <a:buNone/>
            </a:pPr>
            <a:r>
              <a:rPr lang="en-US" sz="1600" b="1" dirty="0">
                <a:solidFill>
                  <a:schemeClr val="tx1"/>
                </a:solidFill>
              </a:rPr>
              <a:t>Aditri Paul · Dr. Hema Shekhawat</a:t>
            </a:r>
            <a:endParaRPr lang="en-US" sz="1600" dirty="0"/>
          </a:p>
        </p:txBody>
      </p:sp>
      <p:sp>
        <p:nvSpPr>
          <p:cNvPr id="8" name="Affiliation"/>
          <p:cNvSpPr txBox="1"/>
          <p:nvPr/>
        </p:nvSpPr>
        <p:spPr>
          <a:xfrm>
            <a:off x="812800" y="5193792"/>
            <a:ext cx="10566095" cy="274320"/>
          </a:xfrm>
          <a:prstGeom prst="rect">
            <a:avLst/>
          </a:prstGeom>
          <a:noFill/>
          <a:ln/>
        </p:spPr>
        <p:txBody>
          <a:bodyPr wrap="square" lIns="0" tIns="0" rIns="0" bIns="0" rtlCol="0" anchor="ctr"/>
          <a:lstStyle/>
          <a:p>
            <a:pPr indent="0" marL="0">
              <a:buNone/>
            </a:pPr>
            <a:r>
              <a:rPr lang="en-US" sz="1400" dirty="0">
                <a:solidFill>
                  <a:schemeClr val="accent4"/>
                </a:solidFill>
              </a:rPr>
              <a:t>Manipal University Jaipur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OVERVIEW</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Four models, one reproducible pipeline</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Each model answers a different climate question, at time scales from 6 hours to 75 years, and each is judged against a simple baseline.</a:t>
            </a:r>
            <a:endParaRPr lang="en-US" sz="1400" dirty="0"/>
          </a:p>
        </p:txBody>
      </p:sp>
      <p:sp>
        <p:nvSpPr>
          <p:cNvPr id="6" name="Card 1"/>
          <p:cNvSpPr/>
          <p:nvPr/>
        </p:nvSpPr>
        <p:spPr>
          <a:xfrm>
            <a:off x="812800" y="2194560"/>
            <a:ext cx="2527224" cy="2651760"/>
          </a:xfrm>
          <a:prstGeom prst="roundRect">
            <a:avLst>
              <a:gd name="adj" fmla="val 2895"/>
            </a:avLst>
          </a:prstGeom>
          <a:solidFill>
            <a:schemeClr val="bg2"/>
          </a:solidFill>
          <a:ln w="9525">
            <a:solidFill>
              <a:schemeClr val="accent5"/>
            </a:solidFill>
            <a:prstDash val="solid"/>
          </a:ln>
        </p:spPr>
      </p:sp>
      <p:sp>
        <p:nvSpPr>
          <p:cNvPr id="7" name="Card text 1"/>
          <p:cNvSpPr txBox="1"/>
          <p:nvPr/>
        </p:nvSpPr>
        <p:spPr>
          <a:xfrm>
            <a:off x="977392" y="2331720"/>
            <a:ext cx="2198040" cy="237744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latin typeface="+mj-lt" pitchFamily="34" charset="0"/>
                <a:ea typeface="+mj-lt" pitchFamily="34" charset="-122"/>
                <a:cs typeface="+mj-lt" pitchFamily="34" charset="-120"/>
              </a:rPr>
              <a:t>El Niño</a:t>
            </a:r>
            <a:endParaRPr lang="en-US" sz="2000" dirty="0"/>
          </a:p>
          <a:p>
            <a:pPr indent="0" marL="0">
              <a:spcAft>
                <a:spcPts val="400"/>
              </a:spcAft>
              <a:buNone/>
            </a:pPr>
            <a:r>
              <a:rPr lang="en-US" sz="1400" dirty="0">
                <a:solidFill>
                  <a:schemeClr val="tx2"/>
                </a:solidFill>
              </a:rPr>
              <a:t>How warm will the tropical Pacific be in 1 to 12 months? A Temporal Fusion Transformer with forecast intervals.</a:t>
            </a:r>
            <a:endParaRPr lang="en-US" sz="2000" dirty="0"/>
          </a:p>
          <a:p>
            <a:pPr indent="0" marL="0">
              <a:spcAft>
                <a:spcPts val="400"/>
              </a:spcAft>
              <a:buNone/>
            </a:pPr>
            <a:r>
              <a:rPr lang="en-US" sz="1400" b="1" dirty="0">
                <a:solidFill>
                  <a:schemeClr val="accent2"/>
                </a:solidFill>
              </a:rPr>
              <a:t>Compared with an LSTM and persistence</a:t>
            </a:r>
            <a:endParaRPr lang="en-US" sz="2000" dirty="0"/>
          </a:p>
        </p:txBody>
      </p:sp>
      <p:sp>
        <p:nvSpPr>
          <p:cNvPr id="8" name="Card 2"/>
          <p:cNvSpPr/>
          <p:nvPr/>
        </p:nvSpPr>
        <p:spPr>
          <a:xfrm>
            <a:off x="3492424" y="2194560"/>
            <a:ext cx="2527224" cy="2651760"/>
          </a:xfrm>
          <a:prstGeom prst="roundRect">
            <a:avLst>
              <a:gd name="adj" fmla="val 2895"/>
            </a:avLst>
          </a:prstGeom>
          <a:solidFill>
            <a:schemeClr val="bg2"/>
          </a:solidFill>
          <a:ln w="9525">
            <a:solidFill>
              <a:schemeClr val="accent5"/>
            </a:solidFill>
            <a:prstDash val="solid"/>
          </a:ln>
        </p:spPr>
      </p:sp>
      <p:sp>
        <p:nvSpPr>
          <p:cNvPr id="9" name="Card text 2"/>
          <p:cNvSpPr txBox="1"/>
          <p:nvPr/>
        </p:nvSpPr>
        <p:spPr>
          <a:xfrm>
            <a:off x="3657016" y="2331720"/>
            <a:ext cx="2198040" cy="237744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latin typeface="+mj-lt" pitchFamily="34" charset="0"/>
                <a:ea typeface="+mj-lt" pitchFamily="34" charset="-122"/>
                <a:cs typeface="+mj-lt" pitchFamily="34" charset="-120"/>
              </a:rPr>
              <a:t>Air pollution</a:t>
            </a:r>
            <a:endParaRPr lang="en-US" sz="2000" dirty="0"/>
          </a:p>
          <a:p>
            <a:pPr indent="0" marL="0">
              <a:spcAft>
                <a:spcPts val="400"/>
              </a:spcAft>
              <a:buNone/>
            </a:pPr>
            <a:r>
              <a:rPr lang="en-US" sz="1400" dirty="0">
                <a:solidFill>
                  <a:schemeClr val="tx2"/>
                </a:solidFill>
              </a:rPr>
              <a:t>How much PM2.5 tomorrow at 75 stations, and will it pass AQI 100? An A3TGCN graph network.</a:t>
            </a:r>
            <a:endParaRPr lang="en-US" sz="2000" dirty="0"/>
          </a:p>
          <a:p>
            <a:pPr indent="0" marL="0">
              <a:spcAft>
                <a:spcPts val="400"/>
              </a:spcAft>
              <a:buNone/>
            </a:pPr>
            <a:r>
              <a:rPr lang="en-US" sz="1400" b="1" dirty="0">
                <a:solidFill>
                  <a:schemeClr val="accent2"/>
                </a:solidFill>
              </a:rPr>
              <a:t>Compared with persistence and always-alert</a:t>
            </a:r>
            <a:endParaRPr lang="en-US" sz="2000" dirty="0"/>
          </a:p>
        </p:txBody>
      </p:sp>
      <p:sp>
        <p:nvSpPr>
          <p:cNvPr id="10" name="Card 3"/>
          <p:cNvSpPr/>
          <p:nvPr/>
        </p:nvSpPr>
        <p:spPr>
          <a:xfrm>
            <a:off x="6172048" y="2194560"/>
            <a:ext cx="2527224" cy="2651760"/>
          </a:xfrm>
          <a:prstGeom prst="roundRect">
            <a:avLst>
              <a:gd name="adj" fmla="val 2895"/>
            </a:avLst>
          </a:prstGeom>
          <a:solidFill>
            <a:schemeClr val="bg2"/>
          </a:solidFill>
          <a:ln w="9525">
            <a:solidFill>
              <a:schemeClr val="accent5"/>
            </a:solidFill>
            <a:prstDash val="solid"/>
          </a:ln>
        </p:spPr>
      </p:sp>
      <p:sp>
        <p:nvSpPr>
          <p:cNvPr id="11" name="Card text 3"/>
          <p:cNvSpPr txBox="1"/>
          <p:nvPr/>
        </p:nvSpPr>
        <p:spPr>
          <a:xfrm>
            <a:off x="6336640" y="2331720"/>
            <a:ext cx="2198040" cy="237744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latin typeface="+mj-lt" pitchFamily="34" charset="0"/>
                <a:ea typeface="+mj-lt" pitchFamily="34" charset="-122"/>
                <a:cs typeface="+mj-lt" pitchFamily="34" charset="-120"/>
              </a:rPr>
              <a:t>Weather</a:t>
            </a:r>
            <a:endParaRPr lang="en-US" sz="2000" dirty="0"/>
          </a:p>
          <a:p>
            <a:pPr indent="0" marL="0">
              <a:spcAft>
                <a:spcPts val="400"/>
              </a:spcAft>
              <a:buNone/>
            </a:pPr>
            <a:r>
              <a:rPr lang="en-US" sz="1400" dirty="0">
                <a:solidFill>
                  <a:schemeClr val="tx2"/>
                </a:solidFill>
              </a:rPr>
              <a:t>What will global temperature and rain be in 6 hours? A graph network on a 2,000-node spherical mesh.</a:t>
            </a:r>
            <a:endParaRPr lang="en-US" sz="2000" dirty="0"/>
          </a:p>
          <a:p>
            <a:pPr indent="0" marL="0">
              <a:spcAft>
                <a:spcPts val="400"/>
              </a:spcAft>
              <a:buNone/>
            </a:pPr>
            <a:r>
              <a:rPr lang="en-US" sz="1400" b="1" dirty="0">
                <a:solidFill>
                  <a:schemeClr val="accent2"/>
                </a:solidFill>
              </a:rPr>
              <a:t>Compared with persistence, plus an ablation</a:t>
            </a:r>
            <a:endParaRPr lang="en-US" sz="2000" dirty="0"/>
          </a:p>
        </p:txBody>
      </p:sp>
      <p:sp>
        <p:nvSpPr>
          <p:cNvPr id="12" name="Card 4"/>
          <p:cNvSpPr/>
          <p:nvPr/>
        </p:nvSpPr>
        <p:spPr>
          <a:xfrm>
            <a:off x="8851671" y="2194560"/>
            <a:ext cx="2527224" cy="2651760"/>
          </a:xfrm>
          <a:prstGeom prst="roundRect">
            <a:avLst>
              <a:gd name="adj" fmla="val 2895"/>
            </a:avLst>
          </a:prstGeom>
          <a:solidFill>
            <a:schemeClr val="bg2"/>
          </a:solidFill>
          <a:ln w="9525">
            <a:solidFill>
              <a:schemeClr val="accent5"/>
            </a:solidFill>
            <a:prstDash val="solid"/>
          </a:ln>
        </p:spPr>
      </p:sp>
      <p:sp>
        <p:nvSpPr>
          <p:cNvPr id="13" name="Card text 4"/>
          <p:cNvSpPr txBox="1"/>
          <p:nvPr/>
        </p:nvSpPr>
        <p:spPr>
          <a:xfrm>
            <a:off x="9016263" y="2331720"/>
            <a:ext cx="2198040" cy="237744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latin typeface="+mj-lt" pitchFamily="34" charset="0"/>
                <a:ea typeface="+mj-lt" pitchFamily="34" charset="-122"/>
                <a:cs typeface="+mj-lt" pitchFamily="34" charset="-120"/>
              </a:rPr>
              <a:t>Warming rate</a:t>
            </a:r>
            <a:endParaRPr lang="en-US" sz="2000" dirty="0"/>
          </a:p>
          <a:p>
            <a:pPr indent="0" marL="0">
              <a:spcAft>
                <a:spcPts val="400"/>
              </a:spcAft>
              <a:buNone/>
            </a:pPr>
            <a:r>
              <a:rPr lang="en-US" sz="1400" dirty="0">
                <a:solidFill>
                  <a:schemeClr val="tx2"/>
                </a:solidFill>
              </a:rPr>
              <a:t>When did the speed of global warming change since 1950? A segmented trend with autocorrelated errors.</a:t>
            </a:r>
            <a:endParaRPr lang="en-US" sz="2000" dirty="0"/>
          </a:p>
          <a:p>
            <a:pPr indent="0" marL="0">
              <a:spcAft>
                <a:spcPts val="400"/>
              </a:spcAft>
              <a:buNone/>
            </a:pPr>
            <a:r>
              <a:rPr lang="en-US" sz="1400" b="1" dirty="0">
                <a:solidFill>
                  <a:schemeClr val="accent2"/>
                </a:solidFill>
              </a:rPr>
              <a:t>Number of breaks chosen by BIC</a:t>
            </a:r>
            <a:endParaRPr lang="en-US" sz="2000" dirty="0"/>
          </a:p>
        </p:txBody>
      </p:sp>
      <p:sp>
        <p:nvSpPr>
          <p:cNvPr id="14" name="Takeaway box"/>
          <p:cNvSpPr/>
          <p:nvPr/>
        </p:nvSpPr>
        <p:spPr>
          <a:xfrm>
            <a:off x="812800" y="5376672"/>
            <a:ext cx="10566095" cy="713232"/>
          </a:xfrm>
          <a:prstGeom prst="roundRect">
            <a:avLst>
              <a:gd name="adj" fmla="val 10256"/>
            </a:avLst>
          </a:prstGeom>
          <a:solidFill>
            <a:schemeClr val="accent3"/>
          </a:solidFill>
          <a:ln/>
        </p:spPr>
      </p:sp>
      <p:sp>
        <p:nvSpPr>
          <p:cNvPr id="15"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6"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Four different tasks share one data pipeline, one split policy and one evaluation code base.</a:t>
            </a:r>
            <a:endParaRPr lang="en-US" sz="1400" dirty="0"/>
          </a:p>
        </p:txBody>
      </p:sp>
      <p:sp>
        <p:nvSpPr>
          <p:cNvPr id="17"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ClimatePulse · run 20261027_230426</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MODEL CHOICE</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Why each model was chosen</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Each architecture fits the shape of its data: a time series, a station network, a sphere and a long-term trend.</a:t>
            </a:r>
            <a:endParaRPr lang="en-US" sz="14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812800" y="2194560"/>
          <a:ext cx="10566095" cy="914400"/>
        </p:xfrm>
        <a:graphic>
          <a:graphicData uri="http://schemas.openxmlformats.org/drawingml/2006/table">
            <a:tbl>
              <a:tblPr/>
              <a:tblGrid>
                <a:gridCol w="2535863"/>
                <a:gridCol w="5283048"/>
                <a:gridCol w="2747185"/>
              </a:tblGrid>
              <a:tr h="0">
                <a:tc>
                  <a:txBody>
                    <a:bodyPr/>
                    <a:lstStyle/>
                    <a:p>
                      <a:pPr algn="l" indent="0" marL="0">
                        <a:buNone/>
                      </a:pPr>
                      <a:r>
                        <a:rPr lang="en-US" sz="1300" b="1" dirty="0">
                          <a:solidFill>
                            <a:srgbClr val="6B7280"/>
                          </a:solidFill>
                        </a:rPr>
                        <a:t>Model</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l" indent="0" marL="0">
                        <a:buNone/>
                      </a:pPr>
                      <a:r>
                        <a:rPr lang="en-US" sz="1300" b="1" dirty="0">
                          <a:solidFill>
                            <a:srgbClr val="6B7280"/>
                          </a:solidFill>
                        </a:rPr>
                        <a:t>Why this model</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l" indent="0" marL="0">
                        <a:buNone/>
                      </a:pPr>
                      <a:r>
                        <a:rPr lang="en-US" sz="1300" b="1" dirty="0">
                          <a:solidFill>
                            <a:srgbClr val="6B7280"/>
                          </a:solidFill>
                        </a:rPr>
                        <a:t>Compared with</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Temporal Fusion Transformer · El Niño</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Forecasts all 12 months at once, uses known future inputs such as the calendar month, and outputs quantile intervals; its attention can be inspected</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Bidirectional LSTM, the standard recurrent baseline; persistence</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A3TGCN · air pollution</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Stations form an irregular network, not a grid: graph convolution shares signal between nearby stations, a GRU tracks time, attention weighs recent days</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Persistence; always-alert for exceedances</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Encoder–processor–decoder GNN · weather</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The design behind GraphCast and Keisler’s model; a Fibonacci mesh covers the sphere evenly and its size can be set freely</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Persistence; ablation of the ENSO input and the loss</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Segmented trend, AR(1) errors · warming</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The question is when the warming rate changed, not the level; AR(1) errors stop year-to-year correlation from inventing breaks, and BIC sets how many</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Mean-shift CUSUM, which finds 12 spurious breaks</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bl>
          </a:graphicData>
        </a:graphic>
      </p:graphicFrame>
      <p:sp>
        <p:nvSpPr>
          <p:cNvPr id="7" name="Takeaway box"/>
          <p:cNvSpPr/>
          <p:nvPr/>
        </p:nvSpPr>
        <p:spPr>
          <a:xfrm>
            <a:off x="812800" y="5376672"/>
            <a:ext cx="10566095" cy="713232"/>
          </a:xfrm>
          <a:prstGeom prst="roundRect">
            <a:avLst>
              <a:gd name="adj" fmla="val 10256"/>
            </a:avLst>
          </a:prstGeom>
          <a:solidFill>
            <a:schemeClr val="accent3"/>
          </a:solidFill>
          <a:ln/>
        </p:spPr>
      </p:sp>
      <p:sp>
        <p:nvSpPr>
          <p:cNvPr id="8"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9"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Each model matches its data’s structure, and a simpler baseline tests whether the extra complexity pays off.</a:t>
            </a:r>
            <a:endParaRPr lang="en-US" sz="1400" dirty="0"/>
          </a:p>
        </p:txBody>
      </p:sp>
      <p:sp>
        <p:nvSpPr>
          <p:cNvPr id="10"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research paper §2 and §4</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MODEL CHOICE · ALTERNATIVES</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The chosen models and the alternatives</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Each choice set against established approaches from the literature, and the reason it was preferred.</a:t>
            </a:r>
            <a:endParaRPr lang="en-US" sz="14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812800" y="2194560"/>
          <a:ext cx="10566095" cy="914400"/>
        </p:xfrm>
        <a:graphic>
          <a:graphicData uri="http://schemas.openxmlformats.org/drawingml/2006/table">
            <a:tbl>
              <a:tblPr/>
              <a:tblGrid>
                <a:gridCol w="1479253"/>
                <a:gridCol w="2007558"/>
                <a:gridCol w="2852846"/>
                <a:gridCol w="4226438"/>
              </a:tblGrid>
              <a:tr h="0">
                <a:tc>
                  <a:txBody>
                    <a:bodyPr/>
                    <a:lstStyle/>
                    <a:p>
                      <a:pPr algn="l" indent="0" marL="0">
                        <a:buNone/>
                      </a:pPr>
                      <a:r>
                        <a:rPr lang="en-US" sz="1300" b="1" dirty="0">
                          <a:solidFill>
                            <a:srgbClr val="6B7280"/>
                          </a:solidFill>
                        </a:rPr>
                        <a:t>Task</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l" indent="0" marL="0">
                        <a:buNone/>
                      </a:pPr>
                      <a:r>
                        <a:rPr lang="en-US" sz="1300" b="1" dirty="0">
                          <a:solidFill>
                            <a:srgbClr val="6B7280"/>
                          </a:solidFill>
                        </a:rPr>
                        <a:t>Chosen</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l" indent="0" marL="0">
                        <a:buNone/>
                      </a:pPr>
                      <a:r>
                        <a:rPr lang="en-US" sz="1300" b="1" dirty="0">
                          <a:solidFill>
                            <a:srgbClr val="6B7280"/>
                          </a:solidFill>
                        </a:rPr>
                        <a:t>Alternatives</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l" indent="0" marL="0">
                        <a:buNone/>
                      </a:pPr>
                      <a:r>
                        <a:rPr lang="en-US" sz="1300" b="1" dirty="0">
                          <a:solidFill>
                            <a:srgbClr val="6B7280"/>
                          </a:solidFill>
                        </a:rPr>
                        <a:t>Why the choice</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El Niño</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Temporal Fusion Transformer</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CNN on climate-model output (Ham et al.); plain LSTM</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Calibrated quantile intervals, not only point forecasts; attention is interpretable</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Air pollution</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A3TGCN</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Grid CNNs; diffusion GCN (DCRNN)</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Sensors are irregular points, not a grid; attention over days in only 6,984 parameters</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Weather</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Mesh GNN (Fibonacci)</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FourCastNet (regular grid); GraphCast (icosahedral mesh)</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Grids crowd at the poles; a Fibonacci mesh is uniform at any size, icosahedra only at fixed levels</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Warming rate</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Segmented trend, AR(1), BIC</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Mean-shift CUSUM; breaks with independent errors</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Tests the rate, not the level; AR(1) stops autocorrelation inventing breaks (CUSUM finds 12)</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bl>
          </a:graphicData>
        </a:graphic>
      </p:graphicFrame>
      <p:sp>
        <p:nvSpPr>
          <p:cNvPr id="7" name="Takeaway box"/>
          <p:cNvSpPr/>
          <p:nvPr/>
        </p:nvSpPr>
        <p:spPr>
          <a:xfrm>
            <a:off x="812800" y="5376672"/>
            <a:ext cx="10566095" cy="713232"/>
          </a:xfrm>
          <a:prstGeom prst="roundRect">
            <a:avLst>
              <a:gd name="adj" fmla="val 10256"/>
            </a:avLst>
          </a:prstGeom>
          <a:solidFill>
            <a:schemeClr val="accent3"/>
          </a:solidFill>
          <a:ln/>
        </p:spPr>
      </p:sp>
      <p:sp>
        <p:nvSpPr>
          <p:cNvPr id="8"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9"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Each choice has a structural reason, and each is still tested against a simpler baseline rather than assumed better.</a:t>
            </a:r>
            <a:endParaRPr lang="en-US" sz="1400" dirty="0"/>
          </a:p>
        </p:txBody>
      </p:sp>
      <p:sp>
        <p:nvSpPr>
          <p:cNvPr id="10"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research paper §2 (related work) and §4.4</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DATA SOURCES</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Five open datasets</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All five are open access and are downloaded automatically by make download-data and make download-nwm-data.</a:t>
            </a:r>
            <a:endParaRPr lang="en-US" sz="14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812800" y="2194560"/>
          <a:ext cx="10566095" cy="914400"/>
        </p:xfrm>
        <a:graphic>
          <a:graphicData uri="http://schemas.openxmlformats.org/drawingml/2006/table">
            <a:tbl>
              <a:tblPr/>
              <a:tblGrid>
                <a:gridCol w="2324541"/>
                <a:gridCol w="3803794"/>
                <a:gridCol w="4437760"/>
              </a:tblGrid>
              <a:tr h="0">
                <a:tc>
                  <a:txBody>
                    <a:bodyPr/>
                    <a:lstStyle/>
                    <a:p>
                      <a:pPr algn="l" indent="0" marL="0">
                        <a:buNone/>
                      </a:pPr>
                      <a:r>
                        <a:rPr lang="en-US" sz="1300" b="1" dirty="0">
                          <a:solidFill>
                            <a:srgbClr val="6B7280"/>
                          </a:solidFill>
                        </a:rPr>
                        <a:t>Dataset</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l" indent="0" marL="0">
                        <a:buNone/>
                      </a:pPr>
                      <a:r>
                        <a:rPr lang="en-US" sz="1300" b="1" dirty="0">
                          <a:solidFill>
                            <a:srgbClr val="6B7280"/>
                          </a:solidFill>
                        </a:rPr>
                        <a:t>What it provides → used by</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l" indent="0" marL="0">
                        <a:buNone/>
                      </a:pPr>
                      <a:r>
                        <a:rPr lang="en-US" sz="1300" b="1" dirty="0">
                          <a:solidFill>
                            <a:srgbClr val="6B7280"/>
                          </a:solidFill>
                        </a:rPr>
                        <a:t>URL</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NOAA ERSST v5</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Sea temperature 1950–2026 → El Niño</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1E4E8C"/>
                          </a:solidFill>
                          <a:latin typeface="Courier New" pitchFamily="34" charset="0"/>
                          <a:ea typeface="Courier New" pitchFamily="34" charset="-122"/>
                          <a:cs typeface="Courier New" pitchFamily="34" charset="-120"/>
                        </a:rPr>
                        <a:t>psl.noaa.gov/data/gridded/data.noaa.ersst.v5.html</a:t>
                      </a:r>
                      <a:endParaRPr lang="en-US" sz="1200" dirty="0">
                        <a:latin typeface="Courier New" charset="0"/>
                        <a:ea typeface="Courier New" charset="0"/>
                        <a:cs typeface="Courier New" charset="0"/>
                      </a:endParaRPr>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OpenAQ v3</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PM2.5, 75 stations, 2016–2025 → pollution</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1E4E8C"/>
                          </a:solidFill>
                          <a:latin typeface="Courier New" pitchFamily="34" charset="0"/>
                          <a:ea typeface="Courier New" pitchFamily="34" charset="-122"/>
                          <a:cs typeface="Courier New" pitchFamily="34" charset="-120"/>
                        </a:rPr>
                        <a:t>openaq.org</a:t>
                      </a:r>
                      <a:endParaRPr lang="en-US" sz="1200" dirty="0">
                        <a:latin typeface="Courier New" charset="0"/>
                        <a:ea typeface="Courier New" charset="0"/>
                        <a:cs typeface="Courier New" charset="0"/>
                      </a:endParaRPr>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NASA GISTEMP v4</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Global temp. 1950–2025 → warming rate</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1E4E8C"/>
                          </a:solidFill>
                          <a:latin typeface="Courier New" pitchFamily="34" charset="0"/>
                          <a:ea typeface="Courier New" pitchFamily="34" charset="-122"/>
                          <a:cs typeface="Courier New" pitchFamily="34" charset="-120"/>
                        </a:rPr>
                        <a:t>data.giss.nasa.gov/gistemp/</a:t>
                      </a:r>
                      <a:endParaRPr lang="en-US" sz="1200" dirty="0">
                        <a:latin typeface="Courier New" charset="0"/>
                        <a:ea typeface="Courier New" charset="0"/>
                        <a:cs typeface="Courier New" charset="0"/>
                      </a:endParaRPr>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Climate TRACE v7</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Emissions, 93 countries → regression (optional)</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1E4E8C"/>
                          </a:solidFill>
                          <a:latin typeface="Courier New" pitchFamily="34" charset="0"/>
                          <a:ea typeface="Courier New" pitchFamily="34" charset="-122"/>
                          <a:cs typeface="Courier New" pitchFamily="34" charset="-120"/>
                        </a:rPr>
                        <a:t>climatetrace.org</a:t>
                      </a:r>
                      <a:endParaRPr lang="en-US" sz="1200" dirty="0">
                        <a:latin typeface="Courier New" charset="0"/>
                        <a:ea typeface="Courier New" charset="0"/>
                        <a:cs typeface="Courier New" charset="0"/>
                      </a:endParaRPr>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ERA5 / WeatherBench2</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2 m temp. and rain, 2020–21 → weather</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1E4E8C"/>
                          </a:solidFill>
                          <a:latin typeface="Courier New" pitchFamily="34" charset="0"/>
                          <a:ea typeface="Courier New" pitchFamily="34" charset="-122"/>
                          <a:cs typeface="Courier New" pitchFamily="34" charset="-120"/>
                        </a:rPr>
                        <a:t>weatherbench2.readthedocs.io</a:t>
                      </a:r>
                      <a:endParaRPr lang="en-US" sz="1200" dirty="0">
                        <a:latin typeface="Courier New" charset="0"/>
                        <a:ea typeface="Courier New" charset="0"/>
                        <a:cs typeface="Courier New" charset="0"/>
                      </a:endParaRPr>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bl>
          </a:graphicData>
        </a:graphic>
      </p:graphicFrame>
      <p:sp>
        <p:nvSpPr>
          <p:cNvPr id="7" name="Takeaway box"/>
          <p:cNvSpPr/>
          <p:nvPr/>
        </p:nvSpPr>
        <p:spPr>
          <a:xfrm>
            <a:off x="812800" y="5376672"/>
            <a:ext cx="10566095" cy="713232"/>
          </a:xfrm>
          <a:prstGeom prst="roundRect">
            <a:avLst>
              <a:gd name="adj" fmla="val 10256"/>
            </a:avLst>
          </a:prstGeom>
          <a:solidFill>
            <a:schemeClr val="accent3"/>
          </a:solidFill>
          <a:ln/>
        </p:spPr>
      </p:sp>
      <p:sp>
        <p:nvSpPr>
          <p:cNvPr id="8"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9"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No proprietary data: anyone can rebuild every input from these public sources (OpenAQ needs a free API key).</a:t>
            </a:r>
            <a:endParaRPr lang="en-US" sz="1400" dirty="0"/>
          </a:p>
        </p:txBody>
      </p:sp>
      <p:sp>
        <p:nvSpPr>
          <p:cNvPr id="10"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research paper §3.1 and §7 · URLs prefixed with https://</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DATA PIPELINE</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From raw downloads to model inputs</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make download-data runs DataPipeline for four sources; ERA5 comes separately from make download-nwm-data.</a:t>
            </a:r>
            <a:endParaRPr lang="en-US" sz="1400" dirty="0"/>
          </a:p>
        </p:txBody>
      </p:sp>
      <p:sp>
        <p:nvSpPr>
          <p:cNvPr id="6" name="Text 3"/>
          <p:cNvSpPr txBox="1"/>
          <p:nvPr/>
        </p:nvSpPr>
        <p:spPr>
          <a:xfrm>
            <a:off x="812800" y="2148840"/>
            <a:ext cx="2183671" cy="256032"/>
          </a:xfrm>
          <a:prstGeom prst="rect">
            <a:avLst/>
          </a:prstGeom>
          <a:noFill/>
          <a:ln/>
        </p:spPr>
        <p:txBody>
          <a:bodyPr wrap="square" lIns="0" tIns="0" rIns="0" bIns="0" rtlCol="0" anchor="ctr"/>
          <a:lstStyle/>
          <a:p>
            <a:pPr indent="0" marL="0">
              <a:buNone/>
            </a:pPr>
            <a:r>
              <a:rPr lang="en-US" sz="1200" b="1" dirty="0">
                <a:solidFill>
                  <a:schemeClr val="accent1"/>
                </a:solidFill>
              </a:rPr>
              <a:t>Source</a:t>
            </a:r>
            <a:endParaRPr lang="en-US" sz="1200" dirty="0"/>
          </a:p>
        </p:txBody>
      </p:sp>
      <p:sp>
        <p:nvSpPr>
          <p:cNvPr id="7" name="Text 4"/>
          <p:cNvSpPr txBox="1"/>
          <p:nvPr/>
        </p:nvSpPr>
        <p:spPr>
          <a:xfrm>
            <a:off x="3170207" y="2148840"/>
            <a:ext cx="3057140" cy="256032"/>
          </a:xfrm>
          <a:prstGeom prst="rect">
            <a:avLst/>
          </a:prstGeom>
          <a:noFill/>
          <a:ln/>
        </p:spPr>
        <p:txBody>
          <a:bodyPr wrap="square" lIns="0" tIns="0" rIns="0" bIns="0" rtlCol="0" anchor="ctr"/>
          <a:lstStyle/>
          <a:p>
            <a:pPr indent="0" marL="0">
              <a:buNone/>
            </a:pPr>
            <a:r>
              <a:rPr lang="en-US" sz="1200" b="1" dirty="0">
                <a:solidFill>
                  <a:schemeClr val="accent1"/>
                </a:solidFill>
              </a:rPr>
              <a:t>Processing</a:t>
            </a:r>
            <a:endParaRPr lang="en-US" sz="1200" dirty="0"/>
          </a:p>
        </p:txBody>
      </p:sp>
      <p:sp>
        <p:nvSpPr>
          <p:cNvPr id="8" name="Text 5"/>
          <p:cNvSpPr txBox="1"/>
          <p:nvPr/>
        </p:nvSpPr>
        <p:spPr>
          <a:xfrm>
            <a:off x="6401083" y="2148840"/>
            <a:ext cx="2620405" cy="256032"/>
          </a:xfrm>
          <a:prstGeom prst="rect">
            <a:avLst/>
          </a:prstGeom>
          <a:noFill/>
          <a:ln/>
        </p:spPr>
        <p:txBody>
          <a:bodyPr wrap="square" lIns="0" tIns="0" rIns="0" bIns="0" rtlCol="0" anchor="ctr"/>
          <a:lstStyle/>
          <a:p>
            <a:pPr indent="0" marL="0">
              <a:buNone/>
            </a:pPr>
            <a:r>
              <a:rPr lang="en-US" sz="1200" b="1" dirty="0">
                <a:solidFill>
                  <a:schemeClr val="accent1"/>
                </a:solidFill>
              </a:rPr>
              <a:t>Stored in datasets/</a:t>
            </a:r>
            <a:endParaRPr lang="en-US" sz="1200" dirty="0"/>
          </a:p>
        </p:txBody>
      </p:sp>
      <p:sp>
        <p:nvSpPr>
          <p:cNvPr id="9" name="Text 6"/>
          <p:cNvSpPr txBox="1"/>
          <p:nvPr/>
        </p:nvSpPr>
        <p:spPr>
          <a:xfrm>
            <a:off x="9195224" y="2148840"/>
            <a:ext cx="2183671" cy="256032"/>
          </a:xfrm>
          <a:prstGeom prst="rect">
            <a:avLst/>
          </a:prstGeom>
          <a:noFill/>
          <a:ln/>
        </p:spPr>
        <p:txBody>
          <a:bodyPr wrap="square" lIns="0" tIns="0" rIns="0" bIns="0" rtlCol="0" anchor="ctr"/>
          <a:lstStyle/>
          <a:p>
            <a:pPr indent="0" marL="0">
              <a:buNone/>
            </a:pPr>
            <a:r>
              <a:rPr lang="en-US" sz="1200" b="1" dirty="0">
                <a:solidFill>
                  <a:schemeClr val="accent1"/>
                </a:solidFill>
              </a:rPr>
              <a:t>Used by</a:t>
            </a:r>
            <a:endParaRPr lang="en-US" sz="1200" dirty="0"/>
          </a:p>
        </p:txBody>
      </p:sp>
      <p:sp>
        <p:nvSpPr>
          <p:cNvPr id="10" name="Pipeline 1.1"/>
          <p:cNvSpPr/>
          <p:nvPr/>
        </p:nvSpPr>
        <p:spPr>
          <a:xfrm>
            <a:off x="812800" y="2441448"/>
            <a:ext cx="2183671" cy="493776"/>
          </a:xfrm>
          <a:prstGeom prst="roundRect">
            <a:avLst>
              <a:gd name="adj" fmla="val 14815"/>
            </a:avLst>
          </a:prstGeom>
          <a:solidFill>
            <a:schemeClr val="bg2"/>
          </a:solidFill>
          <a:ln w="9525">
            <a:solidFill>
              <a:schemeClr val="accent5"/>
            </a:solidFill>
            <a:prstDash val="solid"/>
          </a:ln>
        </p:spPr>
      </p:sp>
      <p:sp>
        <p:nvSpPr>
          <p:cNvPr id="11" name="Text 8"/>
          <p:cNvSpPr txBox="1"/>
          <p:nvPr/>
        </p:nvSpPr>
        <p:spPr>
          <a:xfrm>
            <a:off x="904240" y="2441448"/>
            <a:ext cx="2000791" cy="493776"/>
          </a:xfrm>
          <a:prstGeom prst="rect">
            <a:avLst/>
          </a:prstGeom>
          <a:noFill/>
          <a:ln/>
        </p:spPr>
        <p:txBody>
          <a:bodyPr wrap="square" lIns="0" tIns="0" rIns="0" bIns="0" rtlCol="0" anchor="ctr"/>
          <a:lstStyle/>
          <a:p>
            <a:pPr indent="0" marL="0">
              <a:buNone/>
            </a:pPr>
            <a:r>
              <a:rPr lang="en-US" sz="1200" b="1" dirty="0">
                <a:solidFill>
                  <a:schemeClr val="tx1"/>
                </a:solidFill>
              </a:rPr>
              <a:t>NOAA ERSST v5</a:t>
            </a:r>
            <a:endParaRPr lang="en-US" sz="1200" dirty="0"/>
          </a:p>
        </p:txBody>
      </p:sp>
      <p:sp>
        <p:nvSpPr>
          <p:cNvPr id="12" name="Text 9"/>
          <p:cNvSpPr txBox="1"/>
          <p:nvPr/>
        </p:nvSpPr>
        <p:spPr>
          <a:xfrm>
            <a:off x="2996471" y="2441448"/>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13" name="Pipeline 1.2"/>
          <p:cNvSpPr/>
          <p:nvPr/>
        </p:nvSpPr>
        <p:spPr>
          <a:xfrm>
            <a:off x="3170207" y="2441448"/>
            <a:ext cx="3057140" cy="493776"/>
          </a:xfrm>
          <a:prstGeom prst="roundRect">
            <a:avLst>
              <a:gd name="adj" fmla="val 14815"/>
            </a:avLst>
          </a:prstGeom>
          <a:solidFill>
            <a:schemeClr val="bg2"/>
          </a:solidFill>
          <a:ln w="9525">
            <a:solidFill>
              <a:schemeClr val="accent5"/>
            </a:solidFill>
            <a:prstDash val="solid"/>
          </a:ln>
        </p:spPr>
      </p:sp>
      <p:sp>
        <p:nvSpPr>
          <p:cNvPr id="14" name="Text 11"/>
          <p:cNvSpPr txBox="1"/>
          <p:nvPr/>
        </p:nvSpPr>
        <p:spPr>
          <a:xfrm>
            <a:off x="3261647" y="2441448"/>
            <a:ext cx="2874260" cy="493776"/>
          </a:xfrm>
          <a:prstGeom prst="rect">
            <a:avLst/>
          </a:prstGeom>
          <a:noFill/>
          <a:ln/>
        </p:spPr>
        <p:txBody>
          <a:bodyPr wrap="square" lIns="0" tIns="0" rIns="0" bIns="0" rtlCol="0" anchor="ctr"/>
          <a:lstStyle/>
          <a:p>
            <a:pPr indent="0" marL="0">
              <a:buNone/>
            </a:pPr>
            <a:r>
              <a:rPr lang="en-US" sz="1200" dirty="0">
                <a:solidFill>
                  <a:schemeClr val="tx2"/>
                </a:solidFill>
              </a:rPr>
              <a:t>Clean → Niño indices → rolling and seasonal features</a:t>
            </a:r>
            <a:endParaRPr lang="en-US" sz="1200" dirty="0"/>
          </a:p>
        </p:txBody>
      </p:sp>
      <p:sp>
        <p:nvSpPr>
          <p:cNvPr id="15" name="Text 12"/>
          <p:cNvSpPr txBox="1"/>
          <p:nvPr/>
        </p:nvSpPr>
        <p:spPr>
          <a:xfrm>
            <a:off x="6227347" y="2441448"/>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16" name="Pipeline 1.3"/>
          <p:cNvSpPr/>
          <p:nvPr/>
        </p:nvSpPr>
        <p:spPr>
          <a:xfrm>
            <a:off x="6401083" y="2441448"/>
            <a:ext cx="2620405" cy="493776"/>
          </a:xfrm>
          <a:prstGeom prst="roundRect">
            <a:avLst>
              <a:gd name="adj" fmla="val 14815"/>
            </a:avLst>
          </a:prstGeom>
          <a:solidFill>
            <a:schemeClr val="bg2"/>
          </a:solidFill>
          <a:ln w="9525">
            <a:solidFill>
              <a:schemeClr val="accent5"/>
            </a:solidFill>
            <a:prstDash val="solid"/>
          </a:ln>
        </p:spPr>
      </p:sp>
      <p:sp>
        <p:nvSpPr>
          <p:cNvPr id="17" name="Text 14"/>
          <p:cNvSpPr txBox="1"/>
          <p:nvPr/>
        </p:nvSpPr>
        <p:spPr>
          <a:xfrm>
            <a:off x="6492523" y="2441448"/>
            <a:ext cx="2437525" cy="493776"/>
          </a:xfrm>
          <a:prstGeom prst="rect">
            <a:avLst/>
          </a:prstGeom>
          <a:noFill/>
          <a:ln/>
        </p:spPr>
        <p:txBody>
          <a:bodyPr wrap="square" lIns="0" tIns="0" rIns="0" bIns="0" rtlCol="0" anchor="ctr"/>
          <a:lstStyle/>
          <a:p>
            <a:pPr indent="0" marL="0">
              <a:buNone/>
            </a:pPr>
            <a:r>
              <a:rPr lang="en-US" sz="1200" dirty="0">
                <a:solidFill>
                  <a:schemeClr val="tx2"/>
                </a:solidFill>
              </a:rPr>
              <a:t>nino_features.parquet</a:t>
            </a:r>
            <a:endParaRPr lang="en-US" sz="1200" dirty="0"/>
          </a:p>
        </p:txBody>
      </p:sp>
      <p:sp>
        <p:nvSpPr>
          <p:cNvPr id="18" name="Text 15"/>
          <p:cNvSpPr txBox="1"/>
          <p:nvPr/>
        </p:nvSpPr>
        <p:spPr>
          <a:xfrm>
            <a:off x="9021488" y="2441448"/>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19" name="Pipeline 1.4"/>
          <p:cNvSpPr/>
          <p:nvPr/>
        </p:nvSpPr>
        <p:spPr>
          <a:xfrm>
            <a:off x="9195224" y="2441448"/>
            <a:ext cx="2183671" cy="493776"/>
          </a:xfrm>
          <a:prstGeom prst="roundRect">
            <a:avLst>
              <a:gd name="adj" fmla="val 14815"/>
            </a:avLst>
          </a:prstGeom>
          <a:solidFill>
            <a:schemeClr val="accent3"/>
          </a:solidFill>
          <a:ln/>
        </p:spPr>
      </p:sp>
      <p:sp>
        <p:nvSpPr>
          <p:cNvPr id="20" name="Text 17"/>
          <p:cNvSpPr txBox="1"/>
          <p:nvPr/>
        </p:nvSpPr>
        <p:spPr>
          <a:xfrm>
            <a:off x="9286664" y="2441448"/>
            <a:ext cx="2000791" cy="493776"/>
          </a:xfrm>
          <a:prstGeom prst="rect">
            <a:avLst/>
          </a:prstGeom>
          <a:noFill/>
          <a:ln/>
        </p:spPr>
        <p:txBody>
          <a:bodyPr wrap="square" lIns="0" tIns="0" rIns="0" bIns="0" rtlCol="0" anchor="ctr"/>
          <a:lstStyle/>
          <a:p>
            <a:pPr indent="0" marL="0">
              <a:buNone/>
            </a:pPr>
            <a:r>
              <a:rPr lang="en-US" sz="1200" b="1" dirty="0">
                <a:solidFill>
                  <a:schemeClr val="tx1"/>
                </a:solidFill>
              </a:rPr>
              <a:t>TFT, LSTM; NWM Niño input</a:t>
            </a:r>
            <a:endParaRPr lang="en-US" sz="1200" dirty="0"/>
          </a:p>
        </p:txBody>
      </p:sp>
      <p:sp>
        <p:nvSpPr>
          <p:cNvPr id="21" name="Pipeline 2.1"/>
          <p:cNvSpPr/>
          <p:nvPr/>
        </p:nvSpPr>
        <p:spPr>
          <a:xfrm>
            <a:off x="812800" y="3008376"/>
            <a:ext cx="2183671" cy="493776"/>
          </a:xfrm>
          <a:prstGeom prst="roundRect">
            <a:avLst>
              <a:gd name="adj" fmla="val 14815"/>
            </a:avLst>
          </a:prstGeom>
          <a:solidFill>
            <a:schemeClr val="bg2"/>
          </a:solidFill>
          <a:ln w="9525">
            <a:solidFill>
              <a:schemeClr val="accent5"/>
            </a:solidFill>
            <a:prstDash val="solid"/>
          </a:ln>
        </p:spPr>
      </p:sp>
      <p:sp>
        <p:nvSpPr>
          <p:cNvPr id="22" name="Text 19"/>
          <p:cNvSpPr txBox="1"/>
          <p:nvPr/>
        </p:nvSpPr>
        <p:spPr>
          <a:xfrm>
            <a:off x="904240" y="3008376"/>
            <a:ext cx="2000791" cy="493776"/>
          </a:xfrm>
          <a:prstGeom prst="rect">
            <a:avLst/>
          </a:prstGeom>
          <a:noFill/>
          <a:ln/>
        </p:spPr>
        <p:txBody>
          <a:bodyPr wrap="square" lIns="0" tIns="0" rIns="0" bIns="0" rtlCol="0" anchor="ctr"/>
          <a:lstStyle/>
          <a:p>
            <a:pPr indent="0" marL="0">
              <a:buNone/>
            </a:pPr>
            <a:r>
              <a:rPr lang="en-US" sz="1200" b="1" dirty="0">
                <a:solidFill>
                  <a:schemeClr val="tx1"/>
                </a:solidFill>
              </a:rPr>
              <a:t>OpenAQ v3</a:t>
            </a:r>
            <a:endParaRPr lang="en-US" sz="1200" dirty="0"/>
          </a:p>
        </p:txBody>
      </p:sp>
      <p:sp>
        <p:nvSpPr>
          <p:cNvPr id="23" name="Text 20"/>
          <p:cNvSpPr txBox="1"/>
          <p:nvPr/>
        </p:nvSpPr>
        <p:spPr>
          <a:xfrm>
            <a:off x="2996471" y="3008376"/>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24" name="Pipeline 2.2"/>
          <p:cNvSpPr/>
          <p:nvPr/>
        </p:nvSpPr>
        <p:spPr>
          <a:xfrm>
            <a:off x="3170207" y="3008376"/>
            <a:ext cx="3057140" cy="493776"/>
          </a:xfrm>
          <a:prstGeom prst="roundRect">
            <a:avLst>
              <a:gd name="adj" fmla="val 14815"/>
            </a:avLst>
          </a:prstGeom>
          <a:solidFill>
            <a:schemeClr val="bg2"/>
          </a:solidFill>
          <a:ln w="9525">
            <a:solidFill>
              <a:schemeClr val="accent5"/>
            </a:solidFill>
            <a:prstDash val="solid"/>
          </a:ln>
        </p:spPr>
      </p:sp>
      <p:sp>
        <p:nvSpPr>
          <p:cNvPr id="25" name="Text 22"/>
          <p:cNvSpPr txBox="1"/>
          <p:nvPr/>
        </p:nvSpPr>
        <p:spPr>
          <a:xfrm>
            <a:off x="3261647" y="3008376"/>
            <a:ext cx="2874260" cy="493776"/>
          </a:xfrm>
          <a:prstGeom prst="rect">
            <a:avLst/>
          </a:prstGeom>
          <a:noFill/>
          <a:ln/>
        </p:spPr>
        <p:txBody>
          <a:bodyPr wrap="square" lIns="0" tIns="0" rIns="0" bIns="0" rtlCol="0" anchor="ctr"/>
          <a:lstStyle/>
          <a:p>
            <a:pPr indent="0" marL="0">
              <a:buNone/>
            </a:pPr>
            <a:r>
              <a:rPr lang="en-US" sz="1200" dirty="0">
                <a:solidFill>
                  <a:schemeClr val="tx2"/>
                </a:solidFill>
              </a:rPr>
              <a:t>Clean, add AQI; stations → 10-NN haversine graph</a:t>
            </a:r>
            <a:endParaRPr lang="en-US" sz="1200" dirty="0"/>
          </a:p>
        </p:txBody>
      </p:sp>
      <p:sp>
        <p:nvSpPr>
          <p:cNvPr id="26" name="Text 23"/>
          <p:cNvSpPr txBox="1"/>
          <p:nvPr/>
        </p:nvSpPr>
        <p:spPr>
          <a:xfrm>
            <a:off x="6227347" y="3008376"/>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27" name="Pipeline 2.3"/>
          <p:cNvSpPr/>
          <p:nvPr/>
        </p:nvSpPr>
        <p:spPr>
          <a:xfrm>
            <a:off x="6401083" y="3008376"/>
            <a:ext cx="2620405" cy="493776"/>
          </a:xfrm>
          <a:prstGeom prst="roundRect">
            <a:avLst>
              <a:gd name="adj" fmla="val 14815"/>
            </a:avLst>
          </a:prstGeom>
          <a:solidFill>
            <a:schemeClr val="bg2"/>
          </a:solidFill>
          <a:ln w="9525">
            <a:solidFill>
              <a:schemeClr val="accent5"/>
            </a:solidFill>
            <a:prstDash val="solid"/>
          </a:ln>
        </p:spPr>
      </p:sp>
      <p:sp>
        <p:nvSpPr>
          <p:cNvPr id="28" name="Text 25"/>
          <p:cNvSpPr txBox="1"/>
          <p:nvPr/>
        </p:nvSpPr>
        <p:spPr>
          <a:xfrm>
            <a:off x="6492523" y="3008376"/>
            <a:ext cx="2437525" cy="493776"/>
          </a:xfrm>
          <a:prstGeom prst="rect">
            <a:avLst/>
          </a:prstGeom>
          <a:noFill/>
          <a:ln/>
        </p:spPr>
        <p:txBody>
          <a:bodyPr wrap="square" lIns="0" tIns="0" rIns="0" bIns="0" rtlCol="0" anchor="ctr"/>
          <a:lstStyle/>
          <a:p>
            <a:pPr indent="0" marL="0">
              <a:buNone/>
            </a:pPr>
            <a:r>
              <a:rPr lang="en-US" sz="1200" dirty="0">
                <a:solidFill>
                  <a:schemeClr val="tx2"/>
                </a:solidFill>
              </a:rPr>
              <a:t>PM2.5 cache + openaq/locations.parquet</a:t>
            </a:r>
            <a:endParaRPr lang="en-US" sz="1200" dirty="0"/>
          </a:p>
        </p:txBody>
      </p:sp>
      <p:sp>
        <p:nvSpPr>
          <p:cNvPr id="29" name="Text 26"/>
          <p:cNvSpPr txBox="1"/>
          <p:nvPr/>
        </p:nvSpPr>
        <p:spPr>
          <a:xfrm>
            <a:off x="9021488" y="3008376"/>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30" name="Pipeline 2.4"/>
          <p:cNvSpPr/>
          <p:nvPr/>
        </p:nvSpPr>
        <p:spPr>
          <a:xfrm>
            <a:off x="9195224" y="3008376"/>
            <a:ext cx="2183671" cy="493776"/>
          </a:xfrm>
          <a:prstGeom prst="roundRect">
            <a:avLst>
              <a:gd name="adj" fmla="val 14815"/>
            </a:avLst>
          </a:prstGeom>
          <a:solidFill>
            <a:schemeClr val="accent3"/>
          </a:solidFill>
          <a:ln/>
        </p:spPr>
      </p:sp>
      <p:sp>
        <p:nvSpPr>
          <p:cNvPr id="31" name="Text 28"/>
          <p:cNvSpPr txBox="1"/>
          <p:nvPr/>
        </p:nvSpPr>
        <p:spPr>
          <a:xfrm>
            <a:off x="9286664" y="3008376"/>
            <a:ext cx="2000791" cy="493776"/>
          </a:xfrm>
          <a:prstGeom prst="rect">
            <a:avLst/>
          </a:prstGeom>
          <a:noFill/>
          <a:ln/>
        </p:spPr>
        <p:txBody>
          <a:bodyPr wrap="square" lIns="0" tIns="0" rIns="0" bIns="0" rtlCol="0" anchor="ctr"/>
          <a:lstStyle/>
          <a:p>
            <a:pPr indent="0" marL="0">
              <a:buNone/>
            </a:pPr>
            <a:r>
              <a:rPr lang="en-US" sz="1200" b="1" dirty="0">
                <a:solidFill>
                  <a:schemeClr val="tx1"/>
                </a:solidFill>
              </a:rPr>
              <a:t>A3TGCN</a:t>
            </a:r>
            <a:endParaRPr lang="en-US" sz="1200" dirty="0"/>
          </a:p>
        </p:txBody>
      </p:sp>
      <p:sp>
        <p:nvSpPr>
          <p:cNvPr id="32" name="Pipeline 3.1"/>
          <p:cNvSpPr/>
          <p:nvPr/>
        </p:nvSpPr>
        <p:spPr>
          <a:xfrm>
            <a:off x="812800" y="3575304"/>
            <a:ext cx="2183671" cy="493776"/>
          </a:xfrm>
          <a:prstGeom prst="roundRect">
            <a:avLst>
              <a:gd name="adj" fmla="val 14815"/>
            </a:avLst>
          </a:prstGeom>
          <a:solidFill>
            <a:schemeClr val="bg2"/>
          </a:solidFill>
          <a:ln w="9525">
            <a:solidFill>
              <a:schemeClr val="accent5"/>
            </a:solidFill>
            <a:prstDash val="solid"/>
          </a:ln>
        </p:spPr>
      </p:sp>
      <p:sp>
        <p:nvSpPr>
          <p:cNvPr id="33" name="Text 30"/>
          <p:cNvSpPr txBox="1"/>
          <p:nvPr/>
        </p:nvSpPr>
        <p:spPr>
          <a:xfrm>
            <a:off x="904240" y="3575304"/>
            <a:ext cx="2000791" cy="493776"/>
          </a:xfrm>
          <a:prstGeom prst="rect">
            <a:avLst/>
          </a:prstGeom>
          <a:noFill/>
          <a:ln/>
        </p:spPr>
        <p:txBody>
          <a:bodyPr wrap="square" lIns="0" tIns="0" rIns="0" bIns="0" rtlCol="0" anchor="ctr"/>
          <a:lstStyle/>
          <a:p>
            <a:pPr indent="0" marL="0">
              <a:buNone/>
            </a:pPr>
            <a:r>
              <a:rPr lang="en-US" sz="1200" b="1" dirty="0">
                <a:solidFill>
                  <a:schemeClr val="tx1"/>
                </a:solidFill>
              </a:rPr>
              <a:t>NASA GISTEMP v4</a:t>
            </a:r>
            <a:endParaRPr lang="en-US" sz="1200" dirty="0"/>
          </a:p>
        </p:txBody>
      </p:sp>
      <p:sp>
        <p:nvSpPr>
          <p:cNvPr id="34" name="Text 31"/>
          <p:cNvSpPr txBox="1"/>
          <p:nvPr/>
        </p:nvSpPr>
        <p:spPr>
          <a:xfrm>
            <a:off x="2996471" y="3575304"/>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35" name="Pipeline 3.2"/>
          <p:cNvSpPr/>
          <p:nvPr/>
        </p:nvSpPr>
        <p:spPr>
          <a:xfrm>
            <a:off x="3170207" y="3575304"/>
            <a:ext cx="3057140" cy="493776"/>
          </a:xfrm>
          <a:prstGeom prst="roundRect">
            <a:avLst>
              <a:gd name="adj" fmla="val 14815"/>
            </a:avLst>
          </a:prstGeom>
          <a:solidFill>
            <a:schemeClr val="bg2"/>
          </a:solidFill>
          <a:ln w="9525">
            <a:solidFill>
              <a:schemeClr val="accent5"/>
            </a:solidFill>
            <a:prstDash val="solid"/>
          </a:ln>
        </p:spPr>
      </p:sp>
      <p:sp>
        <p:nvSpPr>
          <p:cNvPr id="36" name="Text 33"/>
          <p:cNvSpPr txBox="1"/>
          <p:nvPr/>
        </p:nvSpPr>
        <p:spPr>
          <a:xfrm>
            <a:off x="3261647" y="3575304"/>
            <a:ext cx="2874260" cy="493776"/>
          </a:xfrm>
          <a:prstGeom prst="rect">
            <a:avLst/>
          </a:prstGeom>
          <a:noFill/>
          <a:ln/>
        </p:spPr>
        <p:txBody>
          <a:bodyPr wrap="square" lIns="0" tIns="0" rIns="0" bIns="0" rtlCol="0" anchor="ctr"/>
          <a:lstStyle/>
          <a:p>
            <a:pPr indent="0" marL="0">
              <a:buNone/>
            </a:pPr>
            <a:r>
              <a:rPr lang="en-US" sz="1200" dirty="0">
                <a:solidFill>
                  <a:schemeClr val="tx2"/>
                </a:solidFill>
              </a:rPr>
              <a:t>Clean → rolling and seasonal features</a:t>
            </a:r>
            <a:endParaRPr lang="en-US" sz="1200" dirty="0"/>
          </a:p>
        </p:txBody>
      </p:sp>
      <p:sp>
        <p:nvSpPr>
          <p:cNvPr id="37" name="Text 34"/>
          <p:cNvSpPr txBox="1"/>
          <p:nvPr/>
        </p:nvSpPr>
        <p:spPr>
          <a:xfrm>
            <a:off x="6227347" y="3575304"/>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38" name="Pipeline 3.3"/>
          <p:cNvSpPr/>
          <p:nvPr/>
        </p:nvSpPr>
        <p:spPr>
          <a:xfrm>
            <a:off x="6401083" y="3575304"/>
            <a:ext cx="2620405" cy="493776"/>
          </a:xfrm>
          <a:prstGeom prst="roundRect">
            <a:avLst>
              <a:gd name="adj" fmla="val 14815"/>
            </a:avLst>
          </a:prstGeom>
          <a:solidFill>
            <a:schemeClr val="bg2"/>
          </a:solidFill>
          <a:ln w="9525">
            <a:solidFill>
              <a:schemeClr val="accent5"/>
            </a:solidFill>
            <a:prstDash val="solid"/>
          </a:ln>
        </p:spPr>
      </p:sp>
      <p:sp>
        <p:nvSpPr>
          <p:cNvPr id="39" name="Text 36"/>
          <p:cNvSpPr txBox="1"/>
          <p:nvPr/>
        </p:nvSpPr>
        <p:spPr>
          <a:xfrm>
            <a:off x="6492523" y="3575304"/>
            <a:ext cx="2437525" cy="493776"/>
          </a:xfrm>
          <a:prstGeom prst="rect">
            <a:avLst/>
          </a:prstGeom>
          <a:noFill/>
          <a:ln/>
        </p:spPr>
        <p:txBody>
          <a:bodyPr wrap="square" lIns="0" tIns="0" rIns="0" bIns="0" rtlCol="0" anchor="ctr"/>
          <a:lstStyle/>
          <a:p>
            <a:pPr indent="0" marL="0">
              <a:buNone/>
            </a:pPr>
            <a:r>
              <a:rPr lang="en-US" sz="1200" dirty="0">
                <a:solidFill>
                  <a:schemeClr val="tx2"/>
                </a:solidFill>
              </a:rPr>
              <a:t>gistemp_features.parquet</a:t>
            </a:r>
            <a:endParaRPr lang="en-US" sz="1200" dirty="0"/>
          </a:p>
        </p:txBody>
      </p:sp>
      <p:sp>
        <p:nvSpPr>
          <p:cNvPr id="40" name="Text 37"/>
          <p:cNvSpPr txBox="1"/>
          <p:nvPr/>
        </p:nvSpPr>
        <p:spPr>
          <a:xfrm>
            <a:off x="9021488" y="3575304"/>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41" name="Pipeline 3.4"/>
          <p:cNvSpPr/>
          <p:nvPr/>
        </p:nvSpPr>
        <p:spPr>
          <a:xfrm>
            <a:off x="9195224" y="3575304"/>
            <a:ext cx="2183671" cy="493776"/>
          </a:xfrm>
          <a:prstGeom prst="roundRect">
            <a:avLst>
              <a:gd name="adj" fmla="val 14815"/>
            </a:avLst>
          </a:prstGeom>
          <a:solidFill>
            <a:schemeClr val="accent3"/>
          </a:solidFill>
          <a:ln/>
        </p:spPr>
      </p:sp>
      <p:sp>
        <p:nvSpPr>
          <p:cNvPr id="42" name="Text 39"/>
          <p:cNvSpPr txBox="1"/>
          <p:nvPr/>
        </p:nvSpPr>
        <p:spPr>
          <a:xfrm>
            <a:off x="9286664" y="3575304"/>
            <a:ext cx="2000791" cy="493776"/>
          </a:xfrm>
          <a:prstGeom prst="rect">
            <a:avLst/>
          </a:prstGeom>
          <a:noFill/>
          <a:ln/>
        </p:spPr>
        <p:txBody>
          <a:bodyPr wrap="square" lIns="0" tIns="0" rIns="0" bIns="0" rtlCol="0" anchor="ctr"/>
          <a:lstStyle/>
          <a:p>
            <a:pPr indent="0" marL="0">
              <a:buNone/>
            </a:pPr>
            <a:r>
              <a:rPr lang="en-US" sz="1200" b="1" dirty="0">
                <a:solidFill>
                  <a:schemeClr val="tx1"/>
                </a:solidFill>
              </a:rPr>
              <a:t>Change-point model</a:t>
            </a:r>
            <a:endParaRPr lang="en-US" sz="1200" dirty="0"/>
          </a:p>
        </p:txBody>
      </p:sp>
      <p:sp>
        <p:nvSpPr>
          <p:cNvPr id="43" name="Pipeline 4.1"/>
          <p:cNvSpPr/>
          <p:nvPr/>
        </p:nvSpPr>
        <p:spPr>
          <a:xfrm>
            <a:off x="812800" y="4142232"/>
            <a:ext cx="2183671" cy="493776"/>
          </a:xfrm>
          <a:prstGeom prst="roundRect">
            <a:avLst>
              <a:gd name="adj" fmla="val 14815"/>
            </a:avLst>
          </a:prstGeom>
          <a:solidFill>
            <a:schemeClr val="bg2"/>
          </a:solidFill>
          <a:ln w="9525">
            <a:solidFill>
              <a:schemeClr val="accent5"/>
            </a:solidFill>
            <a:prstDash val="solid"/>
          </a:ln>
        </p:spPr>
      </p:sp>
      <p:sp>
        <p:nvSpPr>
          <p:cNvPr id="44" name="Text 41"/>
          <p:cNvSpPr txBox="1"/>
          <p:nvPr/>
        </p:nvSpPr>
        <p:spPr>
          <a:xfrm>
            <a:off x="904240" y="4142232"/>
            <a:ext cx="2000791" cy="493776"/>
          </a:xfrm>
          <a:prstGeom prst="rect">
            <a:avLst/>
          </a:prstGeom>
          <a:noFill/>
          <a:ln/>
        </p:spPr>
        <p:txBody>
          <a:bodyPr wrap="square" lIns="0" tIns="0" rIns="0" bIns="0" rtlCol="0" anchor="ctr"/>
          <a:lstStyle/>
          <a:p>
            <a:pPr indent="0" marL="0">
              <a:buNone/>
            </a:pPr>
            <a:r>
              <a:rPr lang="en-US" sz="1200" b="1" dirty="0">
                <a:solidFill>
                  <a:schemeClr val="tx1"/>
                </a:solidFill>
              </a:rPr>
              <a:t>Climate TRACE v7</a:t>
            </a:r>
            <a:endParaRPr lang="en-US" sz="1200" dirty="0"/>
          </a:p>
        </p:txBody>
      </p:sp>
      <p:sp>
        <p:nvSpPr>
          <p:cNvPr id="45" name="Text 42"/>
          <p:cNvSpPr txBox="1"/>
          <p:nvPr/>
        </p:nvSpPr>
        <p:spPr>
          <a:xfrm>
            <a:off x="2996471" y="4142232"/>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46" name="Pipeline 4.2"/>
          <p:cNvSpPr/>
          <p:nvPr/>
        </p:nvSpPr>
        <p:spPr>
          <a:xfrm>
            <a:off x="3170207" y="4142232"/>
            <a:ext cx="3057140" cy="493776"/>
          </a:xfrm>
          <a:prstGeom prst="roundRect">
            <a:avLst>
              <a:gd name="adj" fmla="val 14815"/>
            </a:avLst>
          </a:prstGeom>
          <a:solidFill>
            <a:schemeClr val="bg2"/>
          </a:solidFill>
          <a:ln w="9525">
            <a:solidFill>
              <a:schemeClr val="accent5"/>
            </a:solidFill>
            <a:prstDash val="solid"/>
          </a:ln>
        </p:spPr>
      </p:sp>
      <p:sp>
        <p:nvSpPr>
          <p:cNvPr id="47" name="Text 44"/>
          <p:cNvSpPr txBox="1"/>
          <p:nvPr/>
        </p:nvSpPr>
        <p:spPr>
          <a:xfrm>
            <a:off x="3261647" y="4142232"/>
            <a:ext cx="2874260" cy="493776"/>
          </a:xfrm>
          <a:prstGeom prst="rect">
            <a:avLst/>
          </a:prstGeom>
          <a:noFill/>
          <a:ln/>
        </p:spPr>
        <p:txBody>
          <a:bodyPr wrap="square" lIns="0" tIns="0" rIns="0" bIns="0" rtlCol="0" anchor="ctr"/>
          <a:lstStyle/>
          <a:p>
            <a:pPr indent="0" marL="0">
              <a:buNone/>
            </a:pPr>
            <a:r>
              <a:rPr lang="en-US" sz="1200" dirty="0">
                <a:solidFill>
                  <a:schemeClr val="tx2"/>
                </a:solidFill>
              </a:rPr>
              <a:t>Clean → align with GISTEMP by year</a:t>
            </a:r>
            <a:endParaRPr lang="en-US" sz="1200" dirty="0"/>
          </a:p>
        </p:txBody>
      </p:sp>
      <p:sp>
        <p:nvSpPr>
          <p:cNvPr id="48" name="Text 45"/>
          <p:cNvSpPr txBox="1"/>
          <p:nvPr/>
        </p:nvSpPr>
        <p:spPr>
          <a:xfrm>
            <a:off x="6227347" y="4142232"/>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49" name="Pipeline 4.3"/>
          <p:cNvSpPr/>
          <p:nvPr/>
        </p:nvSpPr>
        <p:spPr>
          <a:xfrm>
            <a:off x="6401083" y="4142232"/>
            <a:ext cx="2620405" cy="493776"/>
          </a:xfrm>
          <a:prstGeom prst="roundRect">
            <a:avLst>
              <a:gd name="adj" fmla="val 14815"/>
            </a:avLst>
          </a:prstGeom>
          <a:solidFill>
            <a:schemeClr val="bg2"/>
          </a:solidFill>
          <a:ln w="9525">
            <a:solidFill>
              <a:schemeClr val="accent5"/>
            </a:solidFill>
            <a:prstDash val="solid"/>
          </a:ln>
        </p:spPr>
      </p:sp>
      <p:sp>
        <p:nvSpPr>
          <p:cNvPr id="50" name="Text 47"/>
          <p:cNvSpPr txBox="1"/>
          <p:nvPr/>
        </p:nvSpPr>
        <p:spPr>
          <a:xfrm>
            <a:off x="6492523" y="4142232"/>
            <a:ext cx="2437525" cy="493776"/>
          </a:xfrm>
          <a:prstGeom prst="rect">
            <a:avLst/>
          </a:prstGeom>
          <a:noFill/>
          <a:ln/>
        </p:spPr>
        <p:txBody>
          <a:bodyPr wrap="square" lIns="0" tIns="0" rIns="0" bIns="0" rtlCol="0" anchor="ctr"/>
          <a:lstStyle/>
          <a:p>
            <a:pPr indent="0" marL="0">
              <a:buNone/>
            </a:pPr>
            <a:r>
              <a:rPr lang="en-US" sz="1200" dirty="0">
                <a:solidFill>
                  <a:schemeClr val="tx2"/>
                </a:solidFill>
              </a:rPr>
              <a:t>regression_dataset.parquet</a:t>
            </a:r>
            <a:endParaRPr lang="en-US" sz="1200" dirty="0"/>
          </a:p>
        </p:txBody>
      </p:sp>
      <p:sp>
        <p:nvSpPr>
          <p:cNvPr id="51" name="Text 48"/>
          <p:cNvSpPr txBox="1"/>
          <p:nvPr/>
        </p:nvSpPr>
        <p:spPr>
          <a:xfrm>
            <a:off x="9021488" y="4142232"/>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52" name="Pipeline 4.4"/>
          <p:cNvSpPr/>
          <p:nvPr/>
        </p:nvSpPr>
        <p:spPr>
          <a:xfrm>
            <a:off x="9195224" y="4142232"/>
            <a:ext cx="2183671" cy="493776"/>
          </a:xfrm>
          <a:prstGeom prst="roundRect">
            <a:avLst>
              <a:gd name="adj" fmla="val 14815"/>
            </a:avLst>
          </a:prstGeom>
          <a:solidFill>
            <a:schemeClr val="accent3"/>
          </a:solidFill>
          <a:ln/>
        </p:spPr>
      </p:sp>
      <p:sp>
        <p:nvSpPr>
          <p:cNvPr id="53" name="Text 50"/>
          <p:cNvSpPr txBox="1"/>
          <p:nvPr/>
        </p:nvSpPr>
        <p:spPr>
          <a:xfrm>
            <a:off x="9286664" y="4142232"/>
            <a:ext cx="2000791" cy="493776"/>
          </a:xfrm>
          <a:prstGeom prst="rect">
            <a:avLst/>
          </a:prstGeom>
          <a:noFill/>
          <a:ln/>
        </p:spPr>
        <p:txBody>
          <a:bodyPr wrap="square" lIns="0" tIns="0" rIns="0" bIns="0" rtlCol="0" anchor="ctr"/>
          <a:lstStyle/>
          <a:p>
            <a:pPr indent="0" marL="0">
              <a:buNone/>
            </a:pPr>
            <a:r>
              <a:rPr lang="en-US" sz="1200" b="1" dirty="0">
                <a:solidFill>
                  <a:schemeClr val="tx1"/>
                </a:solidFill>
              </a:rPr>
              <a:t>Bayesian regression (optional)</a:t>
            </a:r>
            <a:endParaRPr lang="en-US" sz="1200" dirty="0"/>
          </a:p>
        </p:txBody>
      </p:sp>
      <p:sp>
        <p:nvSpPr>
          <p:cNvPr id="54" name="Pipeline 5.1"/>
          <p:cNvSpPr/>
          <p:nvPr/>
        </p:nvSpPr>
        <p:spPr>
          <a:xfrm>
            <a:off x="812800" y="4709160"/>
            <a:ext cx="2183671" cy="493776"/>
          </a:xfrm>
          <a:prstGeom prst="roundRect">
            <a:avLst>
              <a:gd name="adj" fmla="val 14815"/>
            </a:avLst>
          </a:prstGeom>
          <a:solidFill>
            <a:schemeClr val="bg2"/>
          </a:solidFill>
          <a:ln w="9525">
            <a:solidFill>
              <a:schemeClr val="accent5"/>
            </a:solidFill>
            <a:prstDash val="solid"/>
          </a:ln>
        </p:spPr>
      </p:sp>
      <p:sp>
        <p:nvSpPr>
          <p:cNvPr id="55" name="Text 52"/>
          <p:cNvSpPr txBox="1"/>
          <p:nvPr/>
        </p:nvSpPr>
        <p:spPr>
          <a:xfrm>
            <a:off x="904240" y="4709160"/>
            <a:ext cx="2000791" cy="493776"/>
          </a:xfrm>
          <a:prstGeom prst="rect">
            <a:avLst/>
          </a:prstGeom>
          <a:noFill/>
          <a:ln/>
        </p:spPr>
        <p:txBody>
          <a:bodyPr wrap="square" lIns="0" tIns="0" rIns="0" bIns="0" rtlCol="0" anchor="ctr"/>
          <a:lstStyle/>
          <a:p>
            <a:pPr indent="0" marL="0">
              <a:buNone/>
            </a:pPr>
            <a:r>
              <a:rPr lang="en-US" sz="1200" b="1" dirty="0">
                <a:solidFill>
                  <a:schemeClr val="tx1"/>
                </a:solidFill>
              </a:rPr>
              <a:t>ERA5 / WeatherBench2</a:t>
            </a:r>
            <a:endParaRPr lang="en-US" sz="1200" dirty="0"/>
          </a:p>
        </p:txBody>
      </p:sp>
      <p:sp>
        <p:nvSpPr>
          <p:cNvPr id="56" name="Text 53"/>
          <p:cNvSpPr txBox="1"/>
          <p:nvPr/>
        </p:nvSpPr>
        <p:spPr>
          <a:xfrm>
            <a:off x="2996471" y="4709160"/>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57" name="Pipeline 5.2"/>
          <p:cNvSpPr/>
          <p:nvPr/>
        </p:nvSpPr>
        <p:spPr>
          <a:xfrm>
            <a:off x="3170207" y="4709160"/>
            <a:ext cx="3057140" cy="493776"/>
          </a:xfrm>
          <a:prstGeom prst="roundRect">
            <a:avLst>
              <a:gd name="adj" fmla="val 14815"/>
            </a:avLst>
          </a:prstGeom>
          <a:solidFill>
            <a:schemeClr val="bg2"/>
          </a:solidFill>
          <a:ln w="9525">
            <a:solidFill>
              <a:schemeClr val="accent5"/>
            </a:solidFill>
            <a:prstDash val="solid"/>
          </a:ln>
        </p:spPr>
      </p:sp>
      <p:sp>
        <p:nvSpPr>
          <p:cNvPr id="58" name="Text 55"/>
          <p:cNvSpPr txBox="1"/>
          <p:nvPr/>
        </p:nvSpPr>
        <p:spPr>
          <a:xfrm>
            <a:off x="3261647" y="4709160"/>
            <a:ext cx="2874260" cy="493776"/>
          </a:xfrm>
          <a:prstGeom prst="rect">
            <a:avLst/>
          </a:prstGeom>
          <a:noFill/>
          <a:ln/>
        </p:spPr>
        <p:txBody>
          <a:bodyPr wrap="square" lIns="0" tIns="0" rIns="0" bIns="0" rtlCol="0" anchor="ctr"/>
          <a:lstStyle/>
          <a:p>
            <a:pPr indent="0" marL="0">
              <a:buNone/>
            </a:pPr>
            <a:r>
              <a:rPr lang="en-US" sz="1200" dirty="0">
                <a:solidFill>
                  <a:schemeClr val="tx2"/>
                </a:solidFill>
              </a:rPr>
              <a:t>Subset 2020–2021, 5.625°, temperature and rain</a:t>
            </a:r>
            <a:endParaRPr lang="en-US" sz="1200" dirty="0"/>
          </a:p>
        </p:txBody>
      </p:sp>
      <p:sp>
        <p:nvSpPr>
          <p:cNvPr id="59" name="Text 56"/>
          <p:cNvSpPr txBox="1"/>
          <p:nvPr/>
        </p:nvSpPr>
        <p:spPr>
          <a:xfrm>
            <a:off x="6227347" y="4709160"/>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60" name="Pipeline 5.3"/>
          <p:cNvSpPr/>
          <p:nvPr/>
        </p:nvSpPr>
        <p:spPr>
          <a:xfrm>
            <a:off x="6401083" y="4709160"/>
            <a:ext cx="2620405" cy="493776"/>
          </a:xfrm>
          <a:prstGeom prst="roundRect">
            <a:avLst>
              <a:gd name="adj" fmla="val 14815"/>
            </a:avLst>
          </a:prstGeom>
          <a:solidFill>
            <a:schemeClr val="bg2"/>
          </a:solidFill>
          <a:ln w="9525">
            <a:solidFill>
              <a:schemeClr val="accent5"/>
            </a:solidFill>
            <a:prstDash val="solid"/>
          </a:ln>
        </p:spPr>
      </p:sp>
      <p:sp>
        <p:nvSpPr>
          <p:cNvPr id="61" name="Text 58"/>
          <p:cNvSpPr txBox="1"/>
          <p:nvPr/>
        </p:nvSpPr>
        <p:spPr>
          <a:xfrm>
            <a:off x="6492523" y="4709160"/>
            <a:ext cx="2437525" cy="493776"/>
          </a:xfrm>
          <a:prstGeom prst="rect">
            <a:avLst/>
          </a:prstGeom>
          <a:noFill/>
          <a:ln/>
        </p:spPr>
        <p:txBody>
          <a:bodyPr wrap="square" lIns="0" tIns="0" rIns="0" bIns="0" rtlCol="0" anchor="ctr"/>
          <a:lstStyle/>
          <a:p>
            <a:pPr indent="0" marL="0">
              <a:buNone/>
            </a:pPr>
            <a:r>
              <a:rPr lang="en-US" sz="1200" dirty="0">
                <a:solidFill>
                  <a:schemeClr val="tx2"/>
                </a:solidFill>
              </a:rPr>
              <a:t>era5_5deg_6hr_2020_2022.nc</a:t>
            </a:r>
            <a:endParaRPr lang="en-US" sz="1200" dirty="0"/>
          </a:p>
        </p:txBody>
      </p:sp>
      <p:sp>
        <p:nvSpPr>
          <p:cNvPr id="62" name="Text 59"/>
          <p:cNvSpPr txBox="1"/>
          <p:nvPr/>
        </p:nvSpPr>
        <p:spPr>
          <a:xfrm>
            <a:off x="9021488" y="4709160"/>
            <a:ext cx="173736" cy="493776"/>
          </a:xfrm>
          <a:prstGeom prst="rect">
            <a:avLst/>
          </a:prstGeom>
          <a:noFill/>
          <a:ln/>
        </p:spPr>
        <p:txBody>
          <a:bodyPr wrap="square" lIns="0" tIns="0" rIns="0" bIns="0" rtlCol="0" anchor="ctr"/>
          <a:lstStyle/>
          <a:p>
            <a:pPr algn="ctr" indent="0" marL="0">
              <a:buNone/>
            </a:pPr>
            <a:r>
              <a:rPr lang="en-US" sz="1600" dirty="0">
                <a:solidFill>
                  <a:schemeClr val="accent4"/>
                </a:solidFill>
              </a:rPr>
              <a:t>→</a:t>
            </a:r>
            <a:endParaRPr lang="en-US" sz="1600" dirty="0"/>
          </a:p>
        </p:txBody>
      </p:sp>
      <p:sp>
        <p:nvSpPr>
          <p:cNvPr id="63" name="Pipeline 5.4"/>
          <p:cNvSpPr/>
          <p:nvPr/>
        </p:nvSpPr>
        <p:spPr>
          <a:xfrm>
            <a:off x="9195224" y="4709160"/>
            <a:ext cx="2183671" cy="493776"/>
          </a:xfrm>
          <a:prstGeom prst="roundRect">
            <a:avLst>
              <a:gd name="adj" fmla="val 14815"/>
            </a:avLst>
          </a:prstGeom>
          <a:solidFill>
            <a:schemeClr val="accent3"/>
          </a:solidFill>
          <a:ln/>
        </p:spPr>
      </p:sp>
      <p:sp>
        <p:nvSpPr>
          <p:cNvPr id="64" name="Text 61"/>
          <p:cNvSpPr txBox="1"/>
          <p:nvPr/>
        </p:nvSpPr>
        <p:spPr>
          <a:xfrm>
            <a:off x="9286664" y="4709160"/>
            <a:ext cx="2000791" cy="493776"/>
          </a:xfrm>
          <a:prstGeom prst="rect">
            <a:avLst/>
          </a:prstGeom>
          <a:noFill/>
          <a:ln/>
        </p:spPr>
        <p:txBody>
          <a:bodyPr wrap="square" lIns="0" tIns="0" rIns="0" bIns="0" rtlCol="0" anchor="ctr"/>
          <a:lstStyle/>
          <a:p>
            <a:pPr indent="0" marL="0">
              <a:buNone/>
            </a:pPr>
            <a:r>
              <a:rPr lang="en-US" sz="1200" b="1" dirty="0">
                <a:solidFill>
                  <a:schemeClr val="tx1"/>
                </a:solidFill>
              </a:rPr>
              <a:t>NWM (mesh GNN)</a:t>
            </a:r>
            <a:endParaRPr lang="en-US" sz="1200" dirty="0"/>
          </a:p>
        </p:txBody>
      </p:sp>
      <p:sp>
        <p:nvSpPr>
          <p:cNvPr id="65" name="Takeaway box"/>
          <p:cNvSpPr/>
          <p:nvPr/>
        </p:nvSpPr>
        <p:spPr>
          <a:xfrm>
            <a:off x="812800" y="5376672"/>
            <a:ext cx="10566095" cy="713232"/>
          </a:xfrm>
          <a:prstGeom prst="roundRect">
            <a:avLst>
              <a:gd name="adj" fmla="val 10256"/>
            </a:avLst>
          </a:prstGeom>
          <a:solidFill>
            <a:schemeClr val="accent3"/>
          </a:solidFill>
          <a:ln/>
        </p:spPr>
      </p:sp>
      <p:sp>
        <p:nvSpPr>
          <p:cNvPr id="66"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67"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Each model reads its own cached file, so any stage can be rerun or inspected on its own.</a:t>
            </a:r>
            <a:endParaRPr lang="en-US" sz="1400" dirty="0"/>
          </a:p>
        </p:txBody>
      </p:sp>
      <p:sp>
        <p:nvSpPr>
          <p:cNvPr id="68"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src/data/pipeline.py, src/data/processing/, src/scripts/download_nwm_data.py</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SIMULATION APP · OVERVIEW</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A browser app for the trained models</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make app opens a tabbed app that runs the trained models on held-out data. Nothing is retrained.</a:t>
            </a:r>
            <a:endParaRPr lang="en-US" sz="1400" dirty="0"/>
          </a:p>
        </p:txBody>
      </p:sp>
      <p:pic>
        <p:nvPicPr>
          <p:cNvPr id="6" name="Screenshot 1" descr="Screenshot of the overview page of the simulation app">    </p:cNvPr>
          <p:cNvPicPr>
            <a:picLocks noChangeAspect="1"/>
          </p:cNvPicPr>
          <p:nvPr/>
        </p:nvPicPr>
        <p:blipFill>
          <a:blip r:embed="rId1"/>
          <a:stretch>
            <a:fillRect/>
          </a:stretch>
        </p:blipFill>
        <p:spPr>
          <a:xfrm>
            <a:off x="812800" y="2194560"/>
            <a:ext cx="4345229" cy="3017520"/>
          </a:xfrm>
          <a:prstGeom prst="rect">
            <a:avLst/>
          </a:prstGeom>
        </p:spPr>
      </p:pic>
      <p:sp>
        <p:nvSpPr>
          <p:cNvPr id="7" name="Findings"/>
          <p:cNvSpPr txBox="1"/>
          <p:nvPr/>
        </p:nvSpPr>
        <p:spPr>
          <a:xfrm>
            <a:off x="5513629" y="2194560"/>
            <a:ext cx="5865266" cy="3017520"/>
          </a:xfrm>
          <a:prstGeom prst="rect">
            <a:avLst/>
          </a:prstGeom>
          <a:noFill/>
          <a:ln/>
        </p:spPr>
        <p:txBody>
          <a:bodyPr wrap="square" lIns="0" tIns="0" rIns="0" bIns="0" rtlCol="0" anchor="ctr"/>
          <a:lstStyle/>
          <a:p>
            <a:pPr indent="0" marL="0">
              <a:spcAft>
                <a:spcPts val="200"/>
              </a:spcAft>
              <a:buNone/>
            </a:pPr>
            <a:r>
              <a:rPr lang="en-US" sz="1200" b="1" spc="200" kern="0" dirty="0">
                <a:solidFill>
                  <a:schemeClr val="accent1"/>
                </a:solidFill>
              </a:rPr>
              <a:t>TABS</a:t>
            </a:r>
            <a:endParaRPr lang="en-US" sz="1200" dirty="0"/>
          </a:p>
          <a:p>
            <a:pPr indent="0" marL="0">
              <a:spcAft>
                <a:spcPts val="1600"/>
              </a:spcAft>
              <a:buNone/>
            </a:pPr>
            <a:r>
              <a:rPr lang="en-US" sz="1400" dirty="0">
                <a:solidFill>
                  <a:schemeClr val="tx1"/>
                </a:solidFill>
              </a:rPr>
              <a:t>Overview plus one tab per simulation; only the open tab runs</a:t>
            </a:r>
            <a:endParaRPr lang="en-US" sz="1200" dirty="0"/>
          </a:p>
          <a:p>
            <a:pPr indent="0" marL="0">
              <a:spcAft>
                <a:spcPts val="200"/>
              </a:spcAft>
              <a:buNone/>
            </a:pPr>
            <a:r>
              <a:rPr lang="en-US" sz="1200" b="1" spc="200" kern="0" dirty="0">
                <a:solidFill>
                  <a:schemeClr val="accent1"/>
                </a:solidFill>
              </a:rPr>
              <a:t>REPORTED RESULTS</a:t>
            </a:r>
            <a:endParaRPr lang="en-US" sz="1200" dirty="0"/>
          </a:p>
          <a:p>
            <a:pPr indent="0" marL="0">
              <a:spcAft>
                <a:spcPts val="1600"/>
              </a:spcAft>
              <a:buNone/>
            </a:pPr>
            <a:r>
              <a:rPr lang="en-US" sz="1400" dirty="0">
                <a:solidFill>
                  <a:schemeClr val="tx1"/>
                </a:solidFill>
              </a:rPr>
              <a:t>The headline numbers and which checkpoints were found</a:t>
            </a:r>
            <a:endParaRPr lang="en-US" sz="1200" dirty="0"/>
          </a:p>
          <a:p>
            <a:pPr indent="0" marL="0">
              <a:spcAft>
                <a:spcPts val="200"/>
              </a:spcAft>
              <a:buNone/>
            </a:pPr>
            <a:r>
              <a:rPr lang="en-US" sz="1200" b="1" spc="200" kern="0" dirty="0">
                <a:solidFill>
                  <a:schemeClr val="accent1"/>
                </a:solidFill>
              </a:rPr>
              <a:t>HONEST BADGES</a:t>
            </a:r>
            <a:endParaRPr lang="en-US" sz="1200" dirty="0"/>
          </a:p>
          <a:p>
            <a:pPr indent="0" marL="0">
              <a:spcAft>
                <a:spcPts val="1600"/>
              </a:spcAft>
              <a:buNone/>
            </a:pPr>
            <a:r>
              <a:rPr lang="en-US" sz="1400" dirty="0">
                <a:solidFill>
                  <a:schemeClr val="tx1"/>
                </a:solidFill>
              </a:rPr>
              <a:t>Each page says what was validated and what is only a demonstration</a:t>
            </a:r>
            <a:endParaRPr lang="en-US" sz="1200" dirty="0"/>
          </a:p>
        </p:txBody>
      </p:sp>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People can explore the results interactively instead of reading tables.</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Screenshot of the running app · make app · src/app/</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SIMULATION APP · WEATHER</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Pick a moment, compare with ERA5</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Choose any held-out time and see truth, model and error as maps or on a rotatable 3D globe.</a:t>
            </a:r>
            <a:endParaRPr lang="en-US" sz="1400" dirty="0"/>
          </a:p>
        </p:txBody>
      </p:sp>
      <p:pic>
        <p:nvPicPr>
          <p:cNvPr id="6" name="Screenshot 1" descr="Screenshot of the weather page of the simulation app">    </p:cNvPr>
          <p:cNvPicPr>
            <a:picLocks noChangeAspect="1"/>
          </p:cNvPicPr>
          <p:nvPr/>
        </p:nvPicPr>
        <p:blipFill>
          <a:blip r:embed="rId1"/>
          <a:stretch>
            <a:fillRect/>
          </a:stretch>
        </p:blipFill>
        <p:spPr>
          <a:xfrm>
            <a:off x="812800" y="2194560"/>
            <a:ext cx="4178105" cy="3017520"/>
          </a:xfrm>
          <a:prstGeom prst="rect">
            <a:avLst/>
          </a:prstGeom>
        </p:spPr>
      </p:pic>
      <p:sp>
        <p:nvSpPr>
          <p:cNvPr id="7" name="Findings"/>
          <p:cNvSpPr txBox="1"/>
          <p:nvPr/>
        </p:nvSpPr>
        <p:spPr>
          <a:xfrm>
            <a:off x="5346505" y="2194560"/>
            <a:ext cx="6032391" cy="3017520"/>
          </a:xfrm>
          <a:prstGeom prst="rect">
            <a:avLst/>
          </a:prstGeom>
          <a:noFill/>
          <a:ln/>
        </p:spPr>
        <p:txBody>
          <a:bodyPr wrap="square" lIns="0" tIns="0" rIns="0" bIns="0" rtlCol="0" anchor="ctr"/>
          <a:lstStyle/>
          <a:p>
            <a:pPr indent="0" marL="0">
              <a:spcAft>
                <a:spcPts val="200"/>
              </a:spcAft>
              <a:buNone/>
            </a:pPr>
            <a:r>
              <a:rPr lang="en-US" sz="1200" b="1" spc="200" kern="0" dirty="0">
                <a:solidFill>
                  <a:schemeClr val="accent1"/>
                </a:solidFill>
              </a:rPr>
              <a:t>CONTROLS</a:t>
            </a:r>
            <a:endParaRPr lang="en-US" sz="1200" dirty="0"/>
          </a:p>
          <a:p>
            <a:pPr indent="0" marL="0">
              <a:spcAft>
                <a:spcPts val="1600"/>
              </a:spcAft>
              <a:buNone/>
            </a:pPr>
            <a:r>
              <a:rPr lang="en-US" sz="1400" dirty="0">
                <a:solidFill>
                  <a:schemeClr val="tx1"/>
                </a:solidFill>
              </a:rPr>
              <a:t>Model version, start time, temperature or rain, and an optional El Niño input</a:t>
            </a:r>
            <a:endParaRPr lang="en-US" sz="1200" dirty="0"/>
          </a:p>
          <a:p>
            <a:pPr indent="0" marL="0">
              <a:spcAft>
                <a:spcPts val="200"/>
              </a:spcAft>
              <a:buNone/>
            </a:pPr>
            <a:r>
              <a:rPr lang="en-US" sz="1200" b="1" spc="200" kern="0" dirty="0">
                <a:solidFill>
                  <a:schemeClr val="accent1"/>
                </a:solidFill>
              </a:rPr>
              <a:t>VIEWS</a:t>
            </a:r>
            <a:endParaRPr lang="en-US" sz="1200" dirty="0"/>
          </a:p>
          <a:p>
            <a:pPr indent="0" marL="0">
              <a:spcAft>
                <a:spcPts val="1600"/>
              </a:spcAft>
              <a:buNone/>
            </a:pPr>
            <a:r>
              <a:rPr lang="en-US" sz="1400" dirty="0">
                <a:solidFill>
                  <a:schemeClr val="tx1"/>
                </a:solidFill>
              </a:rPr>
              <a:t>Maps and a 3D globe; roll forward and press Play to animate</a:t>
            </a:r>
            <a:endParaRPr lang="en-US" sz="1200" dirty="0"/>
          </a:p>
          <a:p>
            <a:pPr indent="0" marL="0">
              <a:spcAft>
                <a:spcPts val="200"/>
              </a:spcAft>
              <a:buNone/>
            </a:pPr>
            <a:r>
              <a:rPr lang="en-US" sz="1200" b="1" spc="200" kern="0" dirty="0">
                <a:solidFill>
                  <a:schemeClr val="accent1"/>
                </a:solidFill>
              </a:rPr>
              <a:t>CAUTION</a:t>
            </a:r>
            <a:endParaRPr lang="en-US" sz="1200" dirty="0"/>
          </a:p>
          <a:p>
            <a:pPr indent="0" marL="0">
              <a:spcAft>
                <a:spcPts val="1600"/>
              </a:spcAft>
              <a:buNone/>
            </a:pPr>
            <a:r>
              <a:rPr lang="en-US" sz="1400" dirty="0">
                <a:solidFill>
                  <a:schemeClr val="tx1"/>
                </a:solidFill>
              </a:rPr>
              <a:t>Only the next 6 hours is validated; rolled-forward runs drift and can be worse than persistence</a:t>
            </a:r>
            <a:endParaRPr lang="en-US" sz="1200" dirty="0"/>
          </a:p>
        </p:txBody>
      </p:sp>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It shows where the model is right and where it fails, one moment at a time.</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Screenshot of the running app · make app · src/app/</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SIMULATION APP · EL NIÑO</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See each 12-month forecast against reality</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Slide to any forecast from 2015 to 2026 and compare the TFT with the LSTM, persistence and what happened.</a:t>
            </a:r>
            <a:endParaRPr lang="en-US" sz="1400" dirty="0"/>
          </a:p>
        </p:txBody>
      </p:sp>
      <p:pic>
        <p:nvPicPr>
          <p:cNvPr id="6" name="Screenshot 1" descr="Screenshot of the elnino page of the simulation app">    </p:cNvPr>
          <p:cNvPicPr>
            <a:picLocks noChangeAspect="1"/>
          </p:cNvPicPr>
          <p:nvPr/>
        </p:nvPicPr>
        <p:blipFill>
          <a:blip r:embed="rId1"/>
          <a:stretch>
            <a:fillRect/>
          </a:stretch>
        </p:blipFill>
        <p:spPr>
          <a:xfrm>
            <a:off x="812800" y="2194560"/>
            <a:ext cx="4345229" cy="3017520"/>
          </a:xfrm>
          <a:prstGeom prst="rect">
            <a:avLst/>
          </a:prstGeom>
        </p:spPr>
      </p:pic>
      <p:sp>
        <p:nvSpPr>
          <p:cNvPr id="7" name="Findings"/>
          <p:cNvSpPr txBox="1"/>
          <p:nvPr/>
        </p:nvSpPr>
        <p:spPr>
          <a:xfrm>
            <a:off x="5513629" y="2194560"/>
            <a:ext cx="5865266" cy="3017520"/>
          </a:xfrm>
          <a:prstGeom prst="rect">
            <a:avLst/>
          </a:prstGeom>
          <a:noFill/>
          <a:ln/>
        </p:spPr>
        <p:txBody>
          <a:bodyPr wrap="square" lIns="0" tIns="0" rIns="0" bIns="0" rtlCol="0" anchor="ctr"/>
          <a:lstStyle/>
          <a:p>
            <a:pPr indent="0" marL="0">
              <a:spcAft>
                <a:spcPts val="200"/>
              </a:spcAft>
              <a:buNone/>
            </a:pPr>
            <a:r>
              <a:rPr lang="en-US" sz="1200" b="1" spc="200" kern="0" dirty="0">
                <a:solidFill>
                  <a:schemeClr val="accent1"/>
                </a:solidFill>
              </a:rPr>
              <a:t>EXPLORE</a:t>
            </a:r>
            <a:endParaRPr lang="en-US" sz="1200" dirty="0"/>
          </a:p>
          <a:p>
            <a:pPr indent="0" marL="0">
              <a:spcAft>
                <a:spcPts val="1600"/>
              </a:spcAft>
              <a:buNone/>
            </a:pPr>
            <a:r>
              <a:rPr lang="en-US" sz="1400" dirty="0">
                <a:solidFill>
                  <a:schemeClr val="tx1"/>
                </a:solidFill>
              </a:rPr>
              <a:t>Median and 10–90 % band for the chosen window, with error for that window</a:t>
            </a:r>
            <a:endParaRPr lang="en-US" sz="1200" dirty="0"/>
          </a:p>
          <a:p>
            <a:pPr indent="0" marL="0">
              <a:spcAft>
                <a:spcPts val="200"/>
              </a:spcAft>
              <a:buNone/>
            </a:pPr>
            <a:r>
              <a:rPr lang="en-US" sz="1200" b="1" spc="200" kern="0" dirty="0">
                <a:solidFill>
                  <a:schemeClr val="accent1"/>
                </a:solidFill>
              </a:rPr>
              <a:t>WATCH IT UNFOLD</a:t>
            </a:r>
            <a:endParaRPr lang="en-US" sz="1200" dirty="0"/>
          </a:p>
          <a:p>
            <a:pPr indent="0" marL="0">
              <a:spcAft>
                <a:spcPts val="1600"/>
              </a:spcAft>
              <a:buNone/>
            </a:pPr>
            <a:r>
              <a:rPr lang="en-US" sz="1400" dirty="0">
                <a:solidFill>
                  <a:schemeClr val="tx1"/>
                </a:solidFill>
              </a:rPr>
              <a:t>Play through the whole test period and see the band chase reality</a:t>
            </a:r>
            <a:endParaRPr lang="en-US" sz="1200" dirty="0"/>
          </a:p>
          <a:p>
            <a:pPr indent="0" marL="0">
              <a:spcAft>
                <a:spcPts val="200"/>
              </a:spcAft>
              <a:buNone/>
            </a:pPr>
            <a:r>
              <a:rPr lang="en-US" sz="1200" b="1" spc="200" kern="0" dirty="0">
                <a:solidFill>
                  <a:schemeClr val="accent1"/>
                </a:solidFill>
              </a:rPr>
              <a:t>SCORES</a:t>
            </a:r>
            <a:endParaRPr lang="en-US" sz="1200" dirty="0"/>
          </a:p>
          <a:p>
            <a:pPr indent="0" marL="0">
              <a:spcAft>
                <a:spcPts val="1600"/>
              </a:spcAft>
              <a:buNone/>
            </a:pPr>
            <a:r>
              <a:rPr lang="en-US" sz="1400" dirty="0">
                <a:solidFill>
                  <a:schemeClr val="tx1"/>
                </a:solidFill>
              </a:rPr>
              <a:t>Error by lead time and the full metrics table</a:t>
            </a:r>
            <a:endParaRPr lang="en-US" sz="1200" dirty="0"/>
          </a:p>
        </p:txBody>
      </p:sp>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The uncertainty band, and the cold bias in recent years, are visible at a glance.</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Screenshot of the running app · make app · src/app/</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SIMULATION APP · AIR POLLUTION</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Next-day PM2.5 at each station</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Predicted and observed PM2.5 on a map, coloured by US EPA air-quality band.</a:t>
            </a:r>
            <a:endParaRPr lang="en-US" sz="1400" dirty="0"/>
          </a:p>
        </p:txBody>
      </p:sp>
      <p:pic>
        <p:nvPicPr>
          <p:cNvPr id="6" name="Screenshot 1" descr="Screenshot of the pollution page of the simulation app">    </p:cNvPr>
          <p:cNvPicPr>
            <a:picLocks noChangeAspect="1"/>
          </p:cNvPicPr>
          <p:nvPr/>
        </p:nvPicPr>
        <p:blipFill>
          <a:blip r:embed="rId1"/>
          <a:stretch>
            <a:fillRect/>
          </a:stretch>
        </p:blipFill>
        <p:spPr>
          <a:xfrm>
            <a:off x="812800" y="2194560"/>
            <a:ext cx="4345229" cy="3017520"/>
          </a:xfrm>
          <a:prstGeom prst="rect">
            <a:avLst/>
          </a:prstGeom>
        </p:spPr>
      </p:pic>
      <p:sp>
        <p:nvSpPr>
          <p:cNvPr id="7" name="Findings"/>
          <p:cNvSpPr txBox="1"/>
          <p:nvPr/>
        </p:nvSpPr>
        <p:spPr>
          <a:xfrm>
            <a:off x="5513629" y="2194560"/>
            <a:ext cx="5865266" cy="3017520"/>
          </a:xfrm>
          <a:prstGeom prst="rect">
            <a:avLst/>
          </a:prstGeom>
          <a:noFill/>
          <a:ln/>
        </p:spPr>
        <p:txBody>
          <a:bodyPr wrap="square" lIns="0" tIns="0" rIns="0" bIns="0" rtlCol="0" anchor="ctr"/>
          <a:lstStyle/>
          <a:p>
            <a:pPr indent="0" marL="0">
              <a:spcAft>
                <a:spcPts val="200"/>
              </a:spcAft>
              <a:buNone/>
            </a:pPr>
            <a:r>
              <a:rPr lang="en-US" sz="1200" b="1" spc="200" kern="0" dirty="0">
                <a:solidFill>
                  <a:schemeClr val="accent1"/>
                </a:solidFill>
              </a:rPr>
              <a:t>MAPS</a:t>
            </a:r>
            <a:endParaRPr lang="en-US" sz="1200" dirty="0"/>
          </a:p>
          <a:p>
            <a:pPr indent="0" marL="0">
              <a:spcAft>
                <a:spcPts val="1600"/>
              </a:spcAft>
              <a:buNone/>
            </a:pPr>
            <a:r>
              <a:rPr lang="en-US" sz="1400" dirty="0">
                <a:solidFill>
                  <a:schemeClr val="tx1"/>
                </a:solidFill>
              </a:rPr>
              <a:t>Model prediction beside the observed reading, where a station reported one</a:t>
            </a:r>
            <a:endParaRPr lang="en-US" sz="1200" dirty="0"/>
          </a:p>
          <a:p>
            <a:pPr indent="0" marL="0">
              <a:spcAft>
                <a:spcPts val="200"/>
              </a:spcAft>
              <a:buNone/>
            </a:pPr>
            <a:r>
              <a:rPr lang="en-US" sz="1200" b="1" spc="200" kern="0" dirty="0">
                <a:solidFill>
                  <a:schemeClr val="accent1"/>
                </a:solidFill>
              </a:rPr>
              <a:t>STATION</a:t>
            </a:r>
            <a:endParaRPr lang="en-US" sz="1200" dirty="0"/>
          </a:p>
          <a:p>
            <a:pPr indent="0" marL="0">
              <a:spcAft>
                <a:spcPts val="1600"/>
              </a:spcAft>
              <a:buNone/>
            </a:pPr>
            <a:r>
              <a:rPr lang="en-US" sz="1400" dirty="0">
                <a:solidFill>
                  <a:schemeClr val="tx1"/>
                </a:solidFill>
              </a:rPr>
              <a:t>Highlight a station to see its recent inputs, its prediction and its reading</a:t>
            </a:r>
            <a:endParaRPr lang="en-US" sz="1200" dirty="0"/>
          </a:p>
          <a:p>
            <a:pPr indent="0" marL="0">
              <a:spcAft>
                <a:spcPts val="200"/>
              </a:spcAft>
              <a:buNone/>
            </a:pPr>
            <a:r>
              <a:rPr lang="en-US" sz="1200" b="1" spc="200" kern="0" dirty="0">
                <a:solidFill>
                  <a:schemeClr val="accent1"/>
                </a:solidFill>
              </a:rPr>
              <a:t>CAUTION</a:t>
            </a:r>
            <a:endParaRPr lang="en-US" sz="1200" dirty="0"/>
          </a:p>
          <a:p>
            <a:pPr indent="0" marL="0">
              <a:spcAft>
                <a:spcPts val="1600"/>
              </a:spcAft>
              <a:buNone/>
            </a:pPr>
            <a:r>
              <a:rPr lang="en-US" sz="1400" dirty="0">
                <a:solidFill>
                  <a:schemeClr val="tx1"/>
                </a:solidFill>
              </a:rPr>
              <a:t>Most stations have no reading, so this is a demonstration, not evidence of skill</a:t>
            </a:r>
            <a:endParaRPr lang="en-US" sz="1200" dirty="0"/>
          </a:p>
        </p:txBody>
      </p:sp>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The app makes the sparsity of the pollution data obvious, which headline numbers hide.</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Screenshot of the running app · make app · src/app/</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SIMULATION APP · WARMING RATE</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How firm is the 1976 break?</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Change the break search and watch the fitted trend, the BIC choice and the segment slopes update.</a:t>
            </a:r>
            <a:endParaRPr lang="en-US" sz="1400" dirty="0"/>
          </a:p>
        </p:txBody>
      </p:sp>
      <p:pic>
        <p:nvPicPr>
          <p:cNvPr id="6" name="Screenshot 1" descr="Screenshot of the warming page of the simulation app">    </p:cNvPr>
          <p:cNvPicPr>
            <a:picLocks noChangeAspect="1"/>
          </p:cNvPicPr>
          <p:nvPr/>
        </p:nvPicPr>
        <p:blipFill>
          <a:blip r:embed="rId1"/>
          <a:stretch>
            <a:fillRect/>
          </a:stretch>
        </p:blipFill>
        <p:spPr>
          <a:xfrm>
            <a:off x="812800" y="2194560"/>
            <a:ext cx="4345229" cy="3017520"/>
          </a:xfrm>
          <a:prstGeom prst="rect">
            <a:avLst/>
          </a:prstGeom>
        </p:spPr>
      </p:pic>
      <p:sp>
        <p:nvSpPr>
          <p:cNvPr id="7" name="Findings"/>
          <p:cNvSpPr txBox="1"/>
          <p:nvPr/>
        </p:nvSpPr>
        <p:spPr>
          <a:xfrm>
            <a:off x="5513629" y="2194560"/>
            <a:ext cx="5865266" cy="3017520"/>
          </a:xfrm>
          <a:prstGeom prst="rect">
            <a:avLst/>
          </a:prstGeom>
          <a:noFill/>
          <a:ln/>
        </p:spPr>
        <p:txBody>
          <a:bodyPr wrap="square" lIns="0" tIns="0" rIns="0" bIns="0" rtlCol="0" anchor="ctr"/>
          <a:lstStyle/>
          <a:p>
            <a:pPr indent="0" marL="0">
              <a:spcAft>
                <a:spcPts val="200"/>
              </a:spcAft>
              <a:buNone/>
            </a:pPr>
            <a:r>
              <a:rPr lang="en-US" sz="1200" b="1" spc="200" kern="0" dirty="0">
                <a:solidFill>
                  <a:schemeClr val="accent1"/>
                </a:solidFill>
              </a:rPr>
              <a:t>CONTROLS</a:t>
            </a:r>
            <a:endParaRPr lang="en-US" sz="1200" dirty="0"/>
          </a:p>
          <a:p>
            <a:pPr indent="0" marL="0">
              <a:spcAft>
                <a:spcPts val="1600"/>
              </a:spcAft>
              <a:buNone/>
            </a:pPr>
            <a:r>
              <a:rPr lang="en-US" sz="1400" dirty="0">
                <a:solidFill>
                  <a:schemeClr val="tx1"/>
                </a:solidFill>
              </a:rPr>
              <a:t>Most breaks allowed, shortest segment, and a straight-line comparison</a:t>
            </a:r>
            <a:endParaRPr lang="en-US" sz="1200" dirty="0"/>
          </a:p>
          <a:p>
            <a:pPr indent="0" marL="0">
              <a:spcAft>
                <a:spcPts val="200"/>
              </a:spcAft>
              <a:buNone/>
            </a:pPr>
            <a:r>
              <a:rPr lang="en-US" sz="1200" b="1" spc="200" kern="0" dirty="0">
                <a:solidFill>
                  <a:schemeClr val="accent1"/>
                </a:solidFill>
              </a:rPr>
              <a:t>RESULT</a:t>
            </a:r>
            <a:endParaRPr lang="en-US" sz="1200" dirty="0"/>
          </a:p>
          <a:p>
            <a:pPr indent="0" marL="0">
              <a:spcAft>
                <a:spcPts val="1600"/>
              </a:spcAft>
              <a:buNone/>
            </a:pPr>
            <a:r>
              <a:rPr lang="en-US" sz="1400" dirty="0">
                <a:solidFill>
                  <a:schemeClr val="tx1"/>
                </a:solidFill>
              </a:rPr>
              <a:t>BIC picks one break in 1976: 0.035 to 0.211 °C per decade</a:t>
            </a:r>
            <a:endParaRPr lang="en-US" sz="1200" dirty="0"/>
          </a:p>
          <a:p>
            <a:pPr indent="0" marL="0">
              <a:spcAft>
                <a:spcPts val="200"/>
              </a:spcAft>
              <a:buNone/>
            </a:pPr>
            <a:r>
              <a:rPr lang="en-US" sz="1200" b="1" spc="200" kern="0" dirty="0">
                <a:solidFill>
                  <a:schemeClr val="accent1"/>
                </a:solidFill>
              </a:rPr>
              <a:t>COMPARE</a:t>
            </a:r>
            <a:endParaRPr lang="en-US" sz="1200" dirty="0"/>
          </a:p>
          <a:p>
            <a:pPr indent="0" marL="0">
              <a:spcAft>
                <a:spcPts val="1600"/>
              </a:spcAft>
              <a:buNone/>
            </a:pPr>
            <a:r>
              <a:rPr lang="en-US" sz="1400" dirty="0">
                <a:solidFill>
                  <a:schemeClr val="tx1"/>
                </a:solidFill>
              </a:rPr>
              <a:t>The straight line shows what the break adds</a:t>
            </a:r>
            <a:endParaRPr lang="en-US" sz="1200" dirty="0"/>
          </a:p>
        </p:txBody>
      </p:sp>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Changing the settings shows how firm the 1976 break is.</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Screenshot of the running app · make app · src/app/</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EVALUATION</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An evaluation designed to avoid leakage</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Leakage, test-period information reaching training, inflated an earlier version (TFT skill 0.91). These six rules remove it.</a:t>
            </a:r>
            <a:endParaRPr lang="en-US" sz="1400" dirty="0"/>
          </a:p>
        </p:txBody>
      </p:sp>
      <p:sp>
        <p:nvSpPr>
          <p:cNvPr id="6" name="Card 1"/>
          <p:cNvSpPr/>
          <p:nvPr/>
        </p:nvSpPr>
        <p:spPr>
          <a:xfrm>
            <a:off x="812800" y="2194560"/>
            <a:ext cx="3420432" cy="1341120"/>
          </a:xfrm>
          <a:prstGeom prst="roundRect">
            <a:avLst>
              <a:gd name="adj" fmla="val 5455"/>
            </a:avLst>
          </a:prstGeom>
          <a:solidFill>
            <a:schemeClr val="bg1"/>
          </a:solidFill>
          <a:ln w="9525">
            <a:solidFill>
              <a:schemeClr val="accent5"/>
            </a:solidFill>
            <a:prstDash val="solid"/>
          </a:ln>
        </p:spPr>
      </p:sp>
      <p:sp>
        <p:nvSpPr>
          <p:cNvPr id="7" name="Card text 1"/>
          <p:cNvSpPr txBox="1"/>
          <p:nvPr/>
        </p:nvSpPr>
        <p:spPr>
          <a:xfrm>
            <a:off x="977392" y="2331720"/>
            <a:ext cx="3091248" cy="10668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Chronological splits</a:t>
            </a:r>
            <a:endParaRPr lang="en-US" sz="1600" dirty="0"/>
          </a:p>
          <a:p>
            <a:pPr indent="0" marL="0">
              <a:spcAft>
                <a:spcPts val="400"/>
              </a:spcAft>
              <a:buNone/>
            </a:pPr>
            <a:r>
              <a:rPr lang="en-US" sz="1400" dirty="0">
                <a:solidFill>
                  <a:schemeClr val="tx2"/>
                </a:solidFill>
              </a:rPr>
              <a:t>70 / 15 / 15 train, validation and test, in time order, for every model</a:t>
            </a:r>
            <a:endParaRPr lang="en-US" sz="1600" dirty="0"/>
          </a:p>
        </p:txBody>
      </p:sp>
      <p:sp>
        <p:nvSpPr>
          <p:cNvPr id="8" name="Card 2"/>
          <p:cNvSpPr/>
          <p:nvPr/>
        </p:nvSpPr>
        <p:spPr>
          <a:xfrm>
            <a:off x="4385632" y="2194560"/>
            <a:ext cx="3420432" cy="1341120"/>
          </a:xfrm>
          <a:prstGeom prst="roundRect">
            <a:avLst>
              <a:gd name="adj" fmla="val 5455"/>
            </a:avLst>
          </a:prstGeom>
          <a:solidFill>
            <a:schemeClr val="bg1"/>
          </a:solidFill>
          <a:ln w="9525">
            <a:solidFill>
              <a:schemeClr val="accent5"/>
            </a:solidFill>
            <a:prstDash val="solid"/>
          </a:ln>
        </p:spPr>
      </p:sp>
      <p:sp>
        <p:nvSpPr>
          <p:cNvPr id="9" name="Card text 2"/>
          <p:cNvSpPr txBox="1"/>
          <p:nvPr/>
        </p:nvSpPr>
        <p:spPr>
          <a:xfrm>
            <a:off x="4550224" y="2331720"/>
            <a:ext cx="3091248" cy="10668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Training-only statistics</a:t>
            </a:r>
            <a:endParaRPr lang="en-US" sz="1600" dirty="0"/>
          </a:p>
          <a:p>
            <a:pPr indent="0" marL="0">
              <a:spcAft>
                <a:spcPts val="400"/>
              </a:spcAft>
              <a:buNone/>
            </a:pPr>
            <a:r>
              <a:rPr lang="en-US" sz="1400" dirty="0">
                <a:solidFill>
                  <a:schemeClr val="tx2"/>
                </a:solidFill>
              </a:rPr>
              <a:t>Normalisation never sees validation or test data</a:t>
            </a:r>
            <a:endParaRPr lang="en-US" sz="1600" dirty="0"/>
          </a:p>
        </p:txBody>
      </p:sp>
      <p:sp>
        <p:nvSpPr>
          <p:cNvPr id="10" name="Card 3"/>
          <p:cNvSpPr/>
          <p:nvPr/>
        </p:nvSpPr>
        <p:spPr>
          <a:xfrm>
            <a:off x="7958463" y="2194560"/>
            <a:ext cx="3420432" cy="1341120"/>
          </a:xfrm>
          <a:prstGeom prst="roundRect">
            <a:avLst>
              <a:gd name="adj" fmla="val 5455"/>
            </a:avLst>
          </a:prstGeom>
          <a:solidFill>
            <a:schemeClr val="bg1"/>
          </a:solidFill>
          <a:ln w="9525">
            <a:solidFill>
              <a:schemeClr val="accent5"/>
            </a:solidFill>
            <a:prstDash val="solid"/>
          </a:ln>
        </p:spPr>
      </p:sp>
      <p:sp>
        <p:nvSpPr>
          <p:cNvPr id="11" name="Card text 3"/>
          <p:cNvSpPr txBox="1"/>
          <p:nvPr/>
        </p:nvSpPr>
        <p:spPr>
          <a:xfrm>
            <a:off x="8123055" y="2331720"/>
            <a:ext cx="3091248" cy="10668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Persistence baselines</a:t>
            </a:r>
            <a:endParaRPr lang="en-US" sz="1600" dirty="0"/>
          </a:p>
          <a:p>
            <a:pPr indent="0" marL="0">
              <a:spcAft>
                <a:spcPts val="400"/>
              </a:spcAft>
              <a:buNone/>
            </a:pPr>
            <a:r>
              <a:rPr lang="en-US" sz="1400" dirty="0">
                <a:solidFill>
                  <a:schemeClr val="tx2"/>
                </a:solidFill>
              </a:rPr>
              <a:t>Every skill score is measured against carrying the last value forward</a:t>
            </a:r>
            <a:endParaRPr lang="en-US" sz="1600" dirty="0"/>
          </a:p>
        </p:txBody>
      </p:sp>
      <p:sp>
        <p:nvSpPr>
          <p:cNvPr id="12" name="Card 4"/>
          <p:cNvSpPr/>
          <p:nvPr/>
        </p:nvSpPr>
        <p:spPr>
          <a:xfrm>
            <a:off x="812800" y="3688080"/>
            <a:ext cx="3420432" cy="1341120"/>
          </a:xfrm>
          <a:prstGeom prst="roundRect">
            <a:avLst>
              <a:gd name="adj" fmla="val 5455"/>
            </a:avLst>
          </a:prstGeom>
          <a:solidFill>
            <a:schemeClr val="bg1"/>
          </a:solidFill>
          <a:ln w="9525">
            <a:solidFill>
              <a:schemeClr val="accent5"/>
            </a:solidFill>
            <a:prstDash val="solid"/>
          </a:ln>
        </p:spPr>
      </p:sp>
      <p:sp>
        <p:nvSpPr>
          <p:cNvPr id="13" name="Card text 4"/>
          <p:cNvSpPr txBox="1"/>
          <p:nvPr/>
        </p:nvSpPr>
        <p:spPr>
          <a:xfrm>
            <a:off x="977392" y="3825240"/>
            <a:ext cx="3091248" cy="10668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Five seeds</a:t>
            </a:r>
            <a:endParaRPr lang="en-US" sz="1600" dirty="0"/>
          </a:p>
          <a:p>
            <a:pPr indent="0" marL="0">
              <a:spcAft>
                <a:spcPts val="400"/>
              </a:spcAft>
              <a:buNone/>
            </a:pPr>
            <a:r>
              <a:rPr lang="en-US" sz="1400" dirty="0">
                <a:solidFill>
                  <a:schemeClr val="tx2"/>
                </a:solidFill>
              </a:rPr>
              <a:t>El Niño results as mean ± s.d.; the TFT variant chosen on validation loss</a:t>
            </a:r>
            <a:endParaRPr lang="en-US" sz="1600" dirty="0"/>
          </a:p>
        </p:txBody>
      </p:sp>
      <p:sp>
        <p:nvSpPr>
          <p:cNvPr id="14" name="Card 5"/>
          <p:cNvSpPr/>
          <p:nvPr/>
        </p:nvSpPr>
        <p:spPr>
          <a:xfrm>
            <a:off x="4385632" y="3688080"/>
            <a:ext cx="3420432" cy="1341120"/>
          </a:xfrm>
          <a:prstGeom prst="roundRect">
            <a:avLst>
              <a:gd name="adj" fmla="val 5455"/>
            </a:avLst>
          </a:prstGeom>
          <a:solidFill>
            <a:schemeClr val="bg1"/>
          </a:solidFill>
          <a:ln w="9525">
            <a:solidFill>
              <a:schemeClr val="accent5"/>
            </a:solidFill>
            <a:prstDash val="solid"/>
          </a:ln>
        </p:spPr>
      </p:sp>
      <p:sp>
        <p:nvSpPr>
          <p:cNvPr id="15" name="Card text 5"/>
          <p:cNvSpPr txBox="1"/>
          <p:nvPr/>
        </p:nvSpPr>
        <p:spPr>
          <a:xfrm>
            <a:off x="4550224" y="3825240"/>
            <a:ext cx="3091248" cy="10668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Physical units</a:t>
            </a:r>
            <a:endParaRPr lang="en-US" sz="1600" dirty="0"/>
          </a:p>
          <a:p>
            <a:pPr indent="0" marL="0">
              <a:spcAft>
                <a:spcPts val="400"/>
              </a:spcAft>
              <a:buNone/>
            </a:pPr>
            <a:r>
              <a:rPr lang="en-US" sz="1400" dirty="0">
                <a:solidFill>
                  <a:schemeClr val="tx2"/>
                </a:solidFill>
              </a:rPr>
              <a:t>Pollution in µg/m³ at the AQI-100 threshold, missing readings masked</a:t>
            </a:r>
            <a:endParaRPr lang="en-US" sz="1600" dirty="0"/>
          </a:p>
        </p:txBody>
      </p:sp>
      <p:sp>
        <p:nvSpPr>
          <p:cNvPr id="16" name="Card 6"/>
          <p:cNvSpPr/>
          <p:nvPr/>
        </p:nvSpPr>
        <p:spPr>
          <a:xfrm>
            <a:off x="7958463" y="3688080"/>
            <a:ext cx="3420432" cy="1341120"/>
          </a:xfrm>
          <a:prstGeom prst="roundRect">
            <a:avLst>
              <a:gd name="adj" fmla="val 5455"/>
            </a:avLst>
          </a:prstGeom>
          <a:solidFill>
            <a:schemeClr val="bg1"/>
          </a:solidFill>
          <a:ln w="9525">
            <a:solidFill>
              <a:schemeClr val="accent5"/>
            </a:solidFill>
            <a:prstDash val="solid"/>
          </a:ln>
        </p:spPr>
      </p:sp>
      <p:sp>
        <p:nvSpPr>
          <p:cNvPr id="17" name="Card text 6"/>
          <p:cNvSpPr txBox="1"/>
          <p:nvPr/>
        </p:nvSpPr>
        <p:spPr>
          <a:xfrm>
            <a:off x="8123055" y="3825240"/>
            <a:ext cx="3091248" cy="10668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Ablation</a:t>
            </a:r>
            <a:endParaRPr lang="en-US" sz="1600" dirty="0"/>
          </a:p>
          <a:p>
            <a:pPr indent="0" marL="0">
              <a:spcAft>
                <a:spcPts val="400"/>
              </a:spcAft>
              <a:buNone/>
            </a:pPr>
            <a:r>
              <a:rPr lang="en-US" sz="1400" dirty="0">
                <a:solidFill>
                  <a:schemeClr val="tx2"/>
                </a:solidFill>
              </a:rPr>
              <a:t>Weather-model input and loss tested one change at a time</a:t>
            </a:r>
            <a:endParaRPr lang="en-US" sz="1600" dirty="0"/>
          </a:p>
        </p:txBody>
      </p:sp>
      <p:sp>
        <p:nvSpPr>
          <p:cNvPr id="18" name="Takeaway box"/>
          <p:cNvSpPr/>
          <p:nvPr/>
        </p:nvSpPr>
        <p:spPr>
          <a:xfrm>
            <a:off x="812800" y="5376672"/>
            <a:ext cx="10566095" cy="713232"/>
          </a:xfrm>
          <a:prstGeom prst="roundRect">
            <a:avLst>
              <a:gd name="adj" fmla="val 10256"/>
            </a:avLst>
          </a:prstGeom>
          <a:solidFill>
            <a:schemeClr val="accent3"/>
          </a:solidFill>
          <a:ln/>
        </p:spPr>
      </p:sp>
      <p:sp>
        <p:nvSpPr>
          <p:cNvPr id="1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2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The numbers that follow are lower than the leaky run’s, but each one is a fair test on unseen data.</a:t>
            </a:r>
            <a:endParaRPr lang="en-US" sz="1400" dirty="0"/>
          </a:p>
        </p:txBody>
      </p:sp>
      <p:sp>
        <p:nvSpPr>
          <p:cNvPr id="2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ClimatePulse · run 20261027_230426</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BASELINES</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Persistence: the forecast every model must beat</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Persistence assumes nothing changes: the forecast is simply the latest observed value, carried forward. It needs no model at all.</a:t>
            </a:r>
            <a:endParaRPr lang="en-US" sz="1400" dirty="0"/>
          </a:p>
        </p:txBody>
      </p:sp>
      <p:sp>
        <p:nvSpPr>
          <p:cNvPr id="6" name="Card 1"/>
          <p:cNvSpPr/>
          <p:nvPr/>
        </p:nvSpPr>
        <p:spPr>
          <a:xfrm>
            <a:off x="812800" y="2194560"/>
            <a:ext cx="3420432" cy="1234440"/>
          </a:xfrm>
          <a:prstGeom prst="roundRect">
            <a:avLst>
              <a:gd name="adj" fmla="val 5926"/>
            </a:avLst>
          </a:prstGeom>
          <a:solidFill>
            <a:schemeClr val="bg2"/>
          </a:solidFill>
          <a:ln w="9525">
            <a:solidFill>
              <a:schemeClr val="accent5"/>
            </a:solidFill>
            <a:prstDash val="solid"/>
          </a:ln>
        </p:spPr>
      </p:sp>
      <p:sp>
        <p:nvSpPr>
          <p:cNvPr id="7" name="Card text 1"/>
          <p:cNvSpPr txBox="1"/>
          <p:nvPr/>
        </p:nvSpPr>
        <p:spPr>
          <a:xfrm>
            <a:off x="977392" y="2331720"/>
            <a:ext cx="3091248" cy="9601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El Niño</a:t>
            </a:r>
            <a:endParaRPr lang="en-US" sz="1600" dirty="0"/>
          </a:p>
          <a:p>
            <a:pPr indent="0" marL="0">
              <a:spcAft>
                <a:spcPts val="400"/>
              </a:spcAft>
              <a:buNone/>
            </a:pPr>
            <a:r>
              <a:rPr lang="en-US" sz="1400" dirty="0">
                <a:solidFill>
                  <a:schemeClr val="tx2"/>
                </a:solidFill>
              </a:rPr>
              <a:t>Each of the next 12 months = this month’s Niño 3.4</a:t>
            </a:r>
            <a:endParaRPr lang="en-US" sz="1600" dirty="0"/>
          </a:p>
        </p:txBody>
      </p:sp>
      <p:sp>
        <p:nvSpPr>
          <p:cNvPr id="8" name="Card 2"/>
          <p:cNvSpPr/>
          <p:nvPr/>
        </p:nvSpPr>
        <p:spPr>
          <a:xfrm>
            <a:off x="4385632" y="2194560"/>
            <a:ext cx="3420432" cy="1234440"/>
          </a:xfrm>
          <a:prstGeom prst="roundRect">
            <a:avLst>
              <a:gd name="adj" fmla="val 5926"/>
            </a:avLst>
          </a:prstGeom>
          <a:solidFill>
            <a:schemeClr val="bg2"/>
          </a:solidFill>
          <a:ln w="9525">
            <a:solidFill>
              <a:schemeClr val="accent5"/>
            </a:solidFill>
            <a:prstDash val="solid"/>
          </a:ln>
        </p:spPr>
      </p:sp>
      <p:sp>
        <p:nvSpPr>
          <p:cNvPr id="9" name="Card text 2"/>
          <p:cNvSpPr txBox="1"/>
          <p:nvPr/>
        </p:nvSpPr>
        <p:spPr>
          <a:xfrm>
            <a:off x="4550224" y="2331720"/>
            <a:ext cx="3091248" cy="9601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Air pollution</a:t>
            </a:r>
            <a:endParaRPr lang="en-US" sz="1600" dirty="0"/>
          </a:p>
          <a:p>
            <a:pPr indent="0" marL="0">
              <a:spcAft>
                <a:spcPts val="400"/>
              </a:spcAft>
              <a:buNone/>
            </a:pPr>
            <a:r>
              <a:rPr lang="en-US" sz="1400" dirty="0">
                <a:solidFill>
                  <a:schemeClr val="tx2"/>
                </a:solidFill>
              </a:rPr>
              <a:t>Tomorrow’s PM2.5 = today’s PM2.5 at the same station</a:t>
            </a:r>
            <a:endParaRPr lang="en-US" sz="1600" dirty="0"/>
          </a:p>
        </p:txBody>
      </p:sp>
      <p:sp>
        <p:nvSpPr>
          <p:cNvPr id="10" name="Card 3"/>
          <p:cNvSpPr/>
          <p:nvPr/>
        </p:nvSpPr>
        <p:spPr>
          <a:xfrm>
            <a:off x="7958463" y="2194560"/>
            <a:ext cx="3420432" cy="1234440"/>
          </a:xfrm>
          <a:prstGeom prst="roundRect">
            <a:avLst>
              <a:gd name="adj" fmla="val 5926"/>
            </a:avLst>
          </a:prstGeom>
          <a:solidFill>
            <a:schemeClr val="bg2"/>
          </a:solidFill>
          <a:ln w="9525">
            <a:solidFill>
              <a:schemeClr val="accent5"/>
            </a:solidFill>
            <a:prstDash val="solid"/>
          </a:ln>
        </p:spPr>
      </p:sp>
      <p:sp>
        <p:nvSpPr>
          <p:cNvPr id="11" name="Card text 3"/>
          <p:cNvSpPr txBox="1"/>
          <p:nvPr/>
        </p:nvSpPr>
        <p:spPr>
          <a:xfrm>
            <a:off x="8123055" y="2331720"/>
            <a:ext cx="3091248" cy="9601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Weather</a:t>
            </a:r>
            <a:endParaRPr lang="en-US" sz="1600" dirty="0"/>
          </a:p>
          <a:p>
            <a:pPr indent="0" marL="0">
              <a:spcAft>
                <a:spcPts val="400"/>
              </a:spcAft>
              <a:buNone/>
            </a:pPr>
            <a:r>
              <a:rPr lang="en-US" sz="1400" dirty="0">
                <a:solidFill>
                  <a:schemeClr val="tx2"/>
                </a:solidFill>
              </a:rPr>
              <a:t>The field in 6 hours = the current field</a:t>
            </a:r>
            <a:endParaRPr lang="en-US" sz="1600" dirty="0"/>
          </a:p>
        </p:txBody>
      </p:sp>
      <p:sp>
        <p:nvSpPr>
          <p:cNvPr id="12" name="Card 1"/>
          <p:cNvSpPr/>
          <p:nvPr/>
        </p:nvSpPr>
        <p:spPr>
          <a:xfrm>
            <a:off x="812800" y="3611880"/>
            <a:ext cx="6248217" cy="1600200"/>
          </a:xfrm>
          <a:prstGeom prst="roundRect">
            <a:avLst>
              <a:gd name="adj" fmla="val 4571"/>
            </a:avLst>
          </a:prstGeom>
          <a:solidFill>
            <a:schemeClr val="accent3"/>
          </a:solidFill>
          <a:ln/>
        </p:spPr>
      </p:sp>
      <p:sp>
        <p:nvSpPr>
          <p:cNvPr id="13" name="Card text 1"/>
          <p:cNvSpPr txBox="1"/>
          <p:nvPr/>
        </p:nvSpPr>
        <p:spPr>
          <a:xfrm>
            <a:off x="977392" y="3749040"/>
            <a:ext cx="5919033" cy="132588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mj-lt" pitchFamily="34" charset="0"/>
                <a:ea typeface="+mj-lt" pitchFamily="34" charset="-122"/>
                <a:cs typeface="+mj-lt" pitchFamily="34" charset="-120"/>
              </a:rPr>
              <a:t>Skill = 1 − MSE(model) / MSE(persistence)</a:t>
            </a:r>
            <a:endParaRPr lang="en-US" sz="2000" dirty="0"/>
          </a:p>
          <a:p>
            <a:pPr indent="0" marL="0">
              <a:spcAft>
                <a:spcPts val="400"/>
              </a:spcAft>
              <a:buNone/>
            </a:pPr>
            <a:r>
              <a:rPr lang="en-US" sz="1400" dirty="0">
                <a:solidFill>
                  <a:schemeClr val="tx2"/>
                </a:solidFill>
              </a:rPr>
              <a:t>0 means no better than persistence, 1 would be perfect, below 0 is worse</a:t>
            </a:r>
            <a:endParaRPr lang="en-US" sz="2000" dirty="0"/>
          </a:p>
        </p:txBody>
      </p:sp>
      <p:sp>
        <p:nvSpPr>
          <p:cNvPr id="14" name="Card 2"/>
          <p:cNvSpPr/>
          <p:nvPr/>
        </p:nvSpPr>
        <p:spPr>
          <a:xfrm>
            <a:off x="7213417" y="3611880"/>
            <a:ext cx="4165478" cy="1600200"/>
          </a:xfrm>
          <a:prstGeom prst="roundRect">
            <a:avLst>
              <a:gd name="adj" fmla="val 4571"/>
            </a:avLst>
          </a:prstGeom>
          <a:solidFill>
            <a:schemeClr val="accent3"/>
          </a:solidFill>
          <a:ln/>
        </p:spPr>
      </p:sp>
      <p:sp>
        <p:nvSpPr>
          <p:cNvPr id="15" name="Card text 2"/>
          <p:cNvSpPr txBox="1"/>
          <p:nvPr/>
        </p:nvSpPr>
        <p:spPr>
          <a:xfrm>
            <a:off x="7378009" y="3749040"/>
            <a:ext cx="3836294" cy="13258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Always-alert</a:t>
            </a:r>
            <a:endParaRPr lang="en-US" sz="1600" dirty="0"/>
          </a:p>
          <a:p>
            <a:pPr indent="0" marL="0">
              <a:spcAft>
                <a:spcPts val="400"/>
              </a:spcAft>
              <a:buNone/>
            </a:pPr>
            <a:r>
              <a:rPr lang="en-US" sz="1400" dirty="0">
                <a:solidFill>
                  <a:schemeClr val="tx2"/>
                </a:solidFill>
              </a:rPr>
              <a:t>For exceedance days: predict unhealthy air every day</a:t>
            </a:r>
            <a:endParaRPr lang="en-US" sz="1600" dirty="0"/>
          </a:p>
        </p:txBody>
      </p:sp>
      <p:sp>
        <p:nvSpPr>
          <p:cNvPr id="16" name="Takeaway box"/>
          <p:cNvSpPr/>
          <p:nvPr/>
        </p:nvSpPr>
        <p:spPr>
          <a:xfrm>
            <a:off x="812800" y="5376672"/>
            <a:ext cx="10566095" cy="713232"/>
          </a:xfrm>
          <a:prstGeom prst="roundRect">
            <a:avLst>
              <a:gd name="adj" fmla="val 10256"/>
            </a:avLst>
          </a:prstGeom>
          <a:solidFill>
            <a:schemeClr val="accent3"/>
          </a:solidFill>
          <a:ln/>
        </p:spPr>
      </p:sp>
      <p:sp>
        <p:nvSpPr>
          <p:cNvPr id="17"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8"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A model adds value only where it beats persistence; climate variables change slowly, so at short leads this is a demanding test.</a:t>
            </a:r>
            <a:endParaRPr lang="en-US" sz="1400" dirty="0"/>
          </a:p>
        </p:txBody>
      </p:sp>
      <p:sp>
        <p:nvSpPr>
          <p:cNvPr id="19"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Skill-score convention: Barnston et al., as adopted in the research paper</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TRAINING SETUP</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How each network is trained</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All models use PyTorch; the learning rate halves when validation loss stops improving (ReduceLROnPlateau, factor 0.5).</a:t>
            </a:r>
            <a:endParaRPr lang="en-US" sz="14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812800" y="2194560"/>
          <a:ext cx="10566095" cy="914400"/>
        </p:xfrm>
        <a:graphic>
          <a:graphicData uri="http://schemas.openxmlformats.org/drawingml/2006/table">
            <a:tbl>
              <a:tblPr/>
              <a:tblGrid>
                <a:gridCol w="1267931"/>
                <a:gridCol w="1479253"/>
                <a:gridCol w="3381150"/>
                <a:gridCol w="2535863"/>
                <a:gridCol w="1901897"/>
              </a:tblGrid>
              <a:tr h="0">
                <a:tc>
                  <a:txBody>
                    <a:bodyPr/>
                    <a:lstStyle/>
                    <a:p>
                      <a:pPr algn="l" indent="0" marL="0">
                        <a:buNone/>
                      </a:pPr>
                      <a:r>
                        <a:rPr lang="en-US" sz="1300" b="1" dirty="0">
                          <a:solidFill>
                            <a:srgbClr val="6B7280"/>
                          </a:solidFill>
                        </a:rPr>
                        <a:t>Model</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l" indent="0" marL="0">
                        <a:buNone/>
                      </a:pPr>
                      <a:r>
                        <a:rPr lang="en-US" sz="1300" b="1" dirty="0">
                          <a:solidFill>
                            <a:srgbClr val="6B7280"/>
                          </a:solidFill>
                        </a:rPr>
                        <a:t>Parameters</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l" indent="0" marL="0">
                        <a:buNone/>
                      </a:pPr>
                      <a:r>
                        <a:rPr lang="en-US" sz="1300" b="1" dirty="0">
                          <a:solidFill>
                            <a:srgbClr val="6B7280"/>
                          </a:solidFill>
                        </a:rPr>
                        <a:t>Loss</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l" indent="0" marL="0">
                        <a:buNone/>
                      </a:pPr>
                      <a:r>
                        <a:rPr lang="en-US" sz="1300" b="1" dirty="0">
                          <a:solidFill>
                            <a:srgbClr val="6B7280"/>
                          </a:solidFill>
                        </a:rPr>
                        <a:t>Optimiser</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l" indent="0" marL="0">
                        <a:buNone/>
                      </a:pPr>
                      <a:r>
                        <a:rPr lang="en-US" sz="1300" b="1" dirty="0">
                          <a:solidFill>
                            <a:srgbClr val="6B7280"/>
                          </a:solidFill>
                        </a:rPr>
                        <a:t>Stopping</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TFT</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96,047</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Quantile (pinball) loss at τ = 0.1, 0.5, 0.9</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Adam, lr 10⁻³, clip 0.1</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Early stop, patience 10</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BiLSTM</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142,668</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MSE over 12 leads</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Adam, lr 10⁻³, clip 1.0</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Early stop, patience 15</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A3TGCN</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6,984</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MSE on observed station-days only</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Adam, lr 10⁻³, clip 1.0</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100 epochs, best kept</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NWM</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217,346</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MSE weighted by cos(latitude)</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AdamW, lr 10⁻³, decay 10⁻⁴</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l" indent="0" marL="0">
                        <a:buNone/>
                      </a:pPr>
                      <a:r>
                        <a:rPr lang="en-US" sz="1400" dirty="0">
                          <a:solidFill>
                            <a:srgbClr val="4B5563"/>
                          </a:solidFill>
                        </a:rPr>
                        <a:t>Early stop, patience 10</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bl>
          </a:graphicData>
        </a:graphic>
      </p:graphicFrame>
      <p:sp>
        <p:nvSpPr>
          <p:cNvPr id="7" name="Takeaway box"/>
          <p:cNvSpPr/>
          <p:nvPr/>
        </p:nvSpPr>
        <p:spPr>
          <a:xfrm>
            <a:off x="812800" y="5376672"/>
            <a:ext cx="10566095" cy="713232"/>
          </a:xfrm>
          <a:prstGeom prst="roundRect">
            <a:avLst>
              <a:gd name="adj" fmla="val 10256"/>
            </a:avLst>
          </a:prstGeom>
          <a:solidFill>
            <a:schemeClr val="accent3"/>
          </a:solidFill>
          <a:ln/>
        </p:spPr>
      </p:sp>
      <p:sp>
        <p:nvSpPr>
          <p:cNvPr id="8"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9"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The networks are small (7k to 217k parameters) and train on a CPU; data, not compute, limits this study.</a:t>
            </a:r>
            <a:endParaRPr lang="en-US" sz="1400" dirty="0"/>
          </a:p>
        </p:txBody>
      </p:sp>
      <p:sp>
        <p:nvSpPr>
          <p:cNvPr id="10"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research paper §4 · parameter counts from the run’s logs and checkpoints</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EL NIÑO · ARCHITECTURE</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Inside the Temporal Fusion Transformer</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The TFT reads 60 months of history and outputs the 10th, 50th and 90th percentile forecast for each of the next 12 months.</a:t>
            </a:r>
            <a:endParaRPr lang="en-US" sz="1400" dirty="0"/>
          </a:p>
        </p:txBody>
      </p:sp>
      <p:sp>
        <p:nvSpPr>
          <p:cNvPr id="6" name="Step 1"/>
          <p:cNvSpPr/>
          <p:nvPr/>
        </p:nvSpPr>
        <p:spPr>
          <a:xfrm>
            <a:off x="812800" y="2194560"/>
            <a:ext cx="2435784" cy="1188720"/>
          </a:xfrm>
          <a:prstGeom prst="roundRect">
            <a:avLst>
              <a:gd name="adj" fmla="val 6154"/>
            </a:avLst>
          </a:prstGeom>
          <a:solidFill>
            <a:schemeClr val="bg2"/>
          </a:solidFill>
          <a:ln w="9525">
            <a:solidFill>
              <a:schemeClr val="accent5"/>
            </a:solidFill>
            <a:prstDash val="solid"/>
          </a:ln>
        </p:spPr>
      </p:sp>
      <p:sp>
        <p:nvSpPr>
          <p:cNvPr id="7" name="Step text 1"/>
          <p:cNvSpPr txBox="1"/>
          <p:nvPr/>
        </p:nvSpPr>
        <p:spPr>
          <a:xfrm>
            <a:off x="922528" y="2286000"/>
            <a:ext cx="2216328"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Variable selection</a:t>
            </a:r>
            <a:endParaRPr lang="en-US" sz="1400" dirty="0"/>
          </a:p>
          <a:p>
            <a:pPr indent="0" marL="0">
              <a:buNone/>
            </a:pPr>
            <a:r>
              <a:rPr lang="en-US" sz="1200" dirty="0">
                <a:solidFill>
                  <a:schemeClr val="tx2"/>
                </a:solidFill>
              </a:rPr>
              <a:t>Gated residual networks weight each input</a:t>
            </a:r>
            <a:endParaRPr lang="en-US" sz="1400" dirty="0"/>
          </a:p>
        </p:txBody>
      </p:sp>
      <p:sp>
        <p:nvSpPr>
          <p:cNvPr id="8" name="Text 5"/>
          <p:cNvSpPr txBox="1"/>
          <p:nvPr/>
        </p:nvSpPr>
        <p:spPr>
          <a:xfrm>
            <a:off x="3248584" y="2194560"/>
            <a:ext cx="274320" cy="118872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9" name="Step 2"/>
          <p:cNvSpPr/>
          <p:nvPr/>
        </p:nvSpPr>
        <p:spPr>
          <a:xfrm>
            <a:off x="3522904" y="2194560"/>
            <a:ext cx="2435784" cy="1188720"/>
          </a:xfrm>
          <a:prstGeom prst="roundRect">
            <a:avLst>
              <a:gd name="adj" fmla="val 6154"/>
            </a:avLst>
          </a:prstGeom>
          <a:solidFill>
            <a:schemeClr val="bg2"/>
          </a:solidFill>
          <a:ln w="9525">
            <a:solidFill>
              <a:schemeClr val="accent5"/>
            </a:solidFill>
            <a:prstDash val="solid"/>
          </a:ln>
        </p:spPr>
      </p:sp>
      <p:sp>
        <p:nvSpPr>
          <p:cNvPr id="10" name="Step text 2"/>
          <p:cNvSpPr txBox="1"/>
          <p:nvPr/>
        </p:nvSpPr>
        <p:spPr>
          <a:xfrm>
            <a:off x="3632632" y="2286000"/>
            <a:ext cx="2216328"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LSTM encoder–decoder</a:t>
            </a:r>
            <a:endParaRPr lang="en-US" sz="1400" dirty="0"/>
          </a:p>
          <a:p>
            <a:pPr indent="0" marL="0">
              <a:buNone/>
            </a:pPr>
            <a:r>
              <a:rPr lang="en-US" sz="1200" dirty="0">
                <a:solidFill>
                  <a:schemeClr val="tx2"/>
                </a:solidFill>
              </a:rPr>
              <a:t>Local patterns, hidden size 32</a:t>
            </a:r>
            <a:endParaRPr lang="en-US" sz="1400" dirty="0"/>
          </a:p>
        </p:txBody>
      </p:sp>
      <p:sp>
        <p:nvSpPr>
          <p:cNvPr id="11" name="Text 8"/>
          <p:cNvSpPr txBox="1"/>
          <p:nvPr/>
        </p:nvSpPr>
        <p:spPr>
          <a:xfrm>
            <a:off x="5958688" y="2194560"/>
            <a:ext cx="274320" cy="118872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12" name="Step 3"/>
          <p:cNvSpPr/>
          <p:nvPr/>
        </p:nvSpPr>
        <p:spPr>
          <a:xfrm>
            <a:off x="6233008" y="2194560"/>
            <a:ext cx="2435784" cy="1188720"/>
          </a:xfrm>
          <a:prstGeom prst="roundRect">
            <a:avLst>
              <a:gd name="adj" fmla="val 6154"/>
            </a:avLst>
          </a:prstGeom>
          <a:solidFill>
            <a:schemeClr val="bg2"/>
          </a:solidFill>
          <a:ln w="9525">
            <a:solidFill>
              <a:schemeClr val="accent5"/>
            </a:solidFill>
            <a:prstDash val="solid"/>
          </a:ln>
        </p:spPr>
      </p:sp>
      <p:sp>
        <p:nvSpPr>
          <p:cNvPr id="13" name="Step text 3"/>
          <p:cNvSpPr txBox="1"/>
          <p:nvPr/>
        </p:nvSpPr>
        <p:spPr>
          <a:xfrm>
            <a:off x="6342736" y="2286000"/>
            <a:ext cx="2216328"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Self-attention</a:t>
            </a:r>
            <a:endParaRPr lang="en-US" sz="1400" dirty="0"/>
          </a:p>
          <a:p>
            <a:pPr indent="0" marL="0">
              <a:buNone/>
            </a:pPr>
            <a:r>
              <a:rPr lang="en-US" sz="1200" dirty="0">
                <a:solidFill>
                  <a:schemeClr val="tx2"/>
                </a:solidFill>
              </a:rPr>
              <a:t>4 heads, softmax(QKᵀ/√d)·V over 60 months</a:t>
            </a:r>
            <a:endParaRPr lang="en-US" sz="1400" dirty="0"/>
          </a:p>
        </p:txBody>
      </p:sp>
      <p:sp>
        <p:nvSpPr>
          <p:cNvPr id="14" name="Text 11"/>
          <p:cNvSpPr txBox="1"/>
          <p:nvPr/>
        </p:nvSpPr>
        <p:spPr>
          <a:xfrm>
            <a:off x="8668791" y="2194560"/>
            <a:ext cx="274320" cy="118872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15" name="Step 4"/>
          <p:cNvSpPr/>
          <p:nvPr/>
        </p:nvSpPr>
        <p:spPr>
          <a:xfrm>
            <a:off x="8943111" y="2194560"/>
            <a:ext cx="2435784" cy="1188720"/>
          </a:xfrm>
          <a:prstGeom prst="roundRect">
            <a:avLst>
              <a:gd name="adj" fmla="val 6154"/>
            </a:avLst>
          </a:prstGeom>
          <a:solidFill>
            <a:schemeClr val="bg2"/>
          </a:solidFill>
          <a:ln w="9525">
            <a:solidFill>
              <a:schemeClr val="accent5"/>
            </a:solidFill>
            <a:prstDash val="solid"/>
          </a:ln>
        </p:spPr>
      </p:sp>
      <p:sp>
        <p:nvSpPr>
          <p:cNvPr id="16" name="Step text 4"/>
          <p:cNvSpPr txBox="1"/>
          <p:nvPr/>
        </p:nvSpPr>
        <p:spPr>
          <a:xfrm>
            <a:off x="9052839" y="2286000"/>
            <a:ext cx="2216328"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Quantile heads</a:t>
            </a:r>
            <a:endParaRPr lang="en-US" sz="1400" dirty="0"/>
          </a:p>
          <a:p>
            <a:pPr indent="0" marL="0">
              <a:buNone/>
            </a:pPr>
            <a:r>
              <a:rPr lang="en-US" sz="1200" dirty="0">
                <a:solidFill>
                  <a:schemeClr val="tx2"/>
                </a:solidFill>
              </a:rPr>
              <a:t>τ = 0.1, 0.5, 0.9 for leads 1–12</a:t>
            </a:r>
            <a:endParaRPr lang="en-US" sz="1400" dirty="0"/>
          </a:p>
        </p:txBody>
      </p:sp>
      <p:sp>
        <p:nvSpPr>
          <p:cNvPr id="17" name="Card 1"/>
          <p:cNvSpPr/>
          <p:nvPr/>
        </p:nvSpPr>
        <p:spPr>
          <a:xfrm>
            <a:off x="812800" y="3566160"/>
            <a:ext cx="3420432" cy="1645920"/>
          </a:xfrm>
          <a:prstGeom prst="roundRect">
            <a:avLst>
              <a:gd name="adj" fmla="val 4444"/>
            </a:avLst>
          </a:prstGeom>
          <a:solidFill>
            <a:schemeClr val="bg2"/>
          </a:solidFill>
          <a:ln w="9525">
            <a:solidFill>
              <a:schemeClr val="accent5"/>
            </a:solidFill>
            <a:prstDash val="solid"/>
          </a:ln>
        </p:spPr>
      </p:sp>
      <p:sp>
        <p:nvSpPr>
          <p:cNvPr id="18" name="Card text 1"/>
          <p:cNvSpPr txBox="1"/>
          <p:nvPr/>
        </p:nvSpPr>
        <p:spPr>
          <a:xfrm>
            <a:off x="977392" y="3703320"/>
            <a:ext cx="3091248" cy="13716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Inputs</a:t>
            </a:r>
            <a:endParaRPr lang="en-US" sz="1600" dirty="0"/>
          </a:p>
          <a:p>
            <a:pPr indent="0" marL="0">
              <a:spcAft>
                <a:spcPts val="400"/>
              </a:spcAft>
              <a:buNone/>
            </a:pPr>
            <a:r>
              <a:rPr lang="en-US" sz="1200" dirty="0">
                <a:solidFill>
                  <a:schemeClr val="tx2"/>
                </a:solidFill>
              </a:rPr>
              <a:t>Known ahead: month as sin/cos. Observed: Niño 1+2, 3, 3.4 and 4, plus 3-, 6- and 12-month rolling mean and s.d.</a:t>
            </a:r>
            <a:endParaRPr lang="en-US" sz="1600" dirty="0"/>
          </a:p>
        </p:txBody>
      </p:sp>
      <p:sp>
        <p:nvSpPr>
          <p:cNvPr id="19" name="Card 2"/>
          <p:cNvSpPr/>
          <p:nvPr/>
        </p:nvSpPr>
        <p:spPr>
          <a:xfrm>
            <a:off x="4385632" y="3566160"/>
            <a:ext cx="3420432" cy="1645920"/>
          </a:xfrm>
          <a:prstGeom prst="roundRect">
            <a:avLst>
              <a:gd name="adj" fmla="val 4444"/>
            </a:avLst>
          </a:prstGeom>
          <a:solidFill>
            <a:schemeClr val="bg2"/>
          </a:solidFill>
          <a:ln w="9525">
            <a:solidFill>
              <a:schemeClr val="accent5"/>
            </a:solidFill>
            <a:prstDash val="solid"/>
          </a:ln>
        </p:spPr>
      </p:sp>
      <p:sp>
        <p:nvSpPr>
          <p:cNvPr id="20" name="Card text 2"/>
          <p:cNvSpPr txBox="1"/>
          <p:nvPr/>
        </p:nvSpPr>
        <p:spPr>
          <a:xfrm>
            <a:off x="4550224" y="3703320"/>
            <a:ext cx="3091248" cy="13716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Pinball loss</a:t>
            </a:r>
            <a:endParaRPr lang="en-US" sz="1600" dirty="0"/>
          </a:p>
          <a:p>
            <a:pPr indent="0" marL="0">
              <a:spcAft>
                <a:spcPts val="400"/>
              </a:spcAft>
              <a:buNone/>
            </a:pPr>
            <a:r>
              <a:rPr lang="en-US" sz="1200" dirty="0">
                <a:solidFill>
                  <a:schemeClr val="tx2"/>
                </a:solidFill>
                <a:latin typeface="Courier New" pitchFamily="34" charset="0"/>
                <a:ea typeface="Courier New" pitchFamily="34" charset="-122"/>
                <a:cs typeface="Courier New" pitchFamily="34" charset="-120"/>
              </a:rPr>
              <a:t>ρτ(u) = u · (τ − 1[u &lt; 0])</a:t>
            </a:r>
            <a:endParaRPr lang="en-US" sz="1600" dirty="0"/>
          </a:p>
          <a:p>
            <a:pPr indent="0" marL="0">
              <a:spcAft>
                <a:spcPts val="400"/>
              </a:spcAft>
              <a:buNone/>
            </a:pPr>
            <a:r>
              <a:rPr lang="en-US" sz="1200" dirty="0">
                <a:solidFill>
                  <a:schemeClr val="tx2"/>
                </a:solidFill>
              </a:rPr>
              <a:t>Under-forecasts cost τ, over-forecasts 1 − τ</a:t>
            </a:r>
            <a:endParaRPr lang="en-US" sz="1600" dirty="0"/>
          </a:p>
        </p:txBody>
      </p:sp>
      <p:sp>
        <p:nvSpPr>
          <p:cNvPr id="21" name="Card 3"/>
          <p:cNvSpPr/>
          <p:nvPr/>
        </p:nvSpPr>
        <p:spPr>
          <a:xfrm>
            <a:off x="7958463" y="3566160"/>
            <a:ext cx="3420432" cy="1645920"/>
          </a:xfrm>
          <a:prstGeom prst="roundRect">
            <a:avLst>
              <a:gd name="adj" fmla="val 4444"/>
            </a:avLst>
          </a:prstGeom>
          <a:solidFill>
            <a:schemeClr val="bg2"/>
          </a:solidFill>
          <a:ln w="9525">
            <a:solidFill>
              <a:schemeClr val="accent5"/>
            </a:solidFill>
            <a:prstDash val="solid"/>
          </a:ln>
        </p:spPr>
      </p:sp>
      <p:sp>
        <p:nvSpPr>
          <p:cNvPr id="22" name="Card text 3"/>
          <p:cNvSpPr txBox="1"/>
          <p:nvPr/>
        </p:nvSpPr>
        <p:spPr>
          <a:xfrm>
            <a:off x="8123055" y="3703320"/>
            <a:ext cx="3091248" cy="13716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LSTM baseline</a:t>
            </a:r>
            <a:endParaRPr lang="en-US" sz="1600" dirty="0"/>
          </a:p>
          <a:p>
            <a:pPr indent="0" marL="0">
              <a:spcAft>
                <a:spcPts val="400"/>
              </a:spcAft>
              <a:buNone/>
            </a:pPr>
            <a:r>
              <a:rPr lang="en-US" sz="1200" dirty="0">
                <a:solidFill>
                  <a:schemeClr val="tx2"/>
                </a:solidFill>
              </a:rPr>
              <a:t>2-layer bidirectional LSTM, 64 units per direction, then an MLP 128 → 64 → 12</a:t>
            </a:r>
            <a:endParaRPr lang="en-US" sz="1600" dirty="0"/>
          </a:p>
        </p:txBody>
      </p:sp>
      <p:sp>
        <p:nvSpPr>
          <p:cNvPr id="23" name="Takeaway box"/>
          <p:cNvSpPr/>
          <p:nvPr/>
        </p:nvSpPr>
        <p:spPr>
          <a:xfrm>
            <a:off x="812800" y="5376672"/>
            <a:ext cx="10566095" cy="713232"/>
          </a:xfrm>
          <a:prstGeom prst="roundRect">
            <a:avLst>
              <a:gd name="adj" fmla="val 10256"/>
            </a:avLst>
          </a:prstGeom>
          <a:solidFill>
            <a:schemeClr val="accent3"/>
          </a:solidFill>
          <a:ln/>
        </p:spPr>
      </p:sp>
      <p:sp>
        <p:nvSpPr>
          <p:cNvPr id="24"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25"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The TFT adds attention and calibrated quantiles on top of an LSTM; the question is whether 573 training windows are enough to use them.</a:t>
            </a:r>
            <a:endParaRPr lang="en-US" sz="1400" dirty="0"/>
          </a:p>
        </p:txBody>
      </p:sp>
      <p:sp>
        <p:nvSpPr>
          <p:cNvPr id="26"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research paper §3.2 and §4.1 · Lim et al. (2021)</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EL NIÑO · FIVE SEEDS</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The TFT edges the LSTM, within its own spread</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RMSE: average error, lower is better. ACC: correlation with observed anomalies. Skill: error reduction against persistence, where 0 is no better.</a:t>
            </a:r>
            <a:endParaRPr lang="en-US" sz="14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812800" y="2194560"/>
          <a:ext cx="10566095" cy="914400"/>
        </p:xfrm>
        <a:graphic>
          <a:graphicData uri="http://schemas.openxmlformats.org/drawingml/2006/table">
            <a:tbl>
              <a:tblPr/>
              <a:tblGrid>
                <a:gridCol w="3381150"/>
                <a:gridCol w="1796236"/>
                <a:gridCol w="1796236"/>
                <a:gridCol w="1796236"/>
                <a:gridCol w="1796236"/>
              </a:tblGrid>
              <a:tr h="0">
                <a:tc>
                  <a:txBody>
                    <a:bodyPr/>
                    <a:lstStyle/>
                    <a:p>
                      <a:pPr algn="l" indent="0" marL="0">
                        <a:buNone/>
                      </a:pPr>
                      <a:r>
                        <a:rPr lang="en-US" sz="1300" b="1" dirty="0">
                          <a:solidFill>
                            <a:srgbClr val="6B7280"/>
                          </a:solidFill>
                        </a:rPr>
                        <a:t>Model</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r" indent="0" marL="0">
                        <a:buNone/>
                      </a:pPr>
                      <a:r>
                        <a:rPr lang="en-US" sz="1300" b="1" dirty="0">
                          <a:solidFill>
                            <a:srgbClr val="6B7280"/>
                          </a:solidFill>
                        </a:rPr>
                        <a:t>RMSE (°C)</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r" indent="0" marL="0">
                        <a:buNone/>
                      </a:pPr>
                      <a:r>
                        <a:rPr lang="en-US" sz="1300" b="1" dirty="0">
                          <a:solidFill>
                            <a:srgbClr val="6B7280"/>
                          </a:solidFill>
                        </a:rPr>
                        <a:t>ACC</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r" indent="0" marL="0">
                        <a:buNone/>
                      </a:pPr>
                      <a:r>
                        <a:rPr lang="en-US" sz="1300" b="1" dirty="0">
                          <a:solidFill>
                            <a:srgbClr val="6B7280"/>
                          </a:solidFill>
                        </a:rPr>
                        <a:t>Skill</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c>
                  <a:txBody>
                    <a:bodyPr/>
                    <a:lstStyle/>
                    <a:p>
                      <a:pPr algn="r" indent="0" marL="0">
                        <a:buNone/>
                      </a:pPr>
                      <a:r>
                        <a:rPr lang="en-US" sz="1300" b="1" dirty="0">
                          <a:solidFill>
                            <a:srgbClr val="6B7280"/>
                          </a:solidFill>
                        </a:rPr>
                        <a:t>Bias (°C)</a:t>
                      </a:r>
                      <a:endParaRPr lang="en-US" sz="1300" dirty="0"/>
                    </a:p>
                  </a:txBody>
                  <a:tcPr marL="109728" marR="109728" marT="109728" marB="109728">
                    <a:lnL w="0" cap="flat" cmpd="sng" algn="ctr">
                      <a:noFill/>
                    </a:lnL>
                    <a:lnR w="0" cap="flat" cmpd="sng" algn="ctr">
                      <a:noFill/>
                    </a:lnR>
                    <a:lnT w="0" cap="flat" cmpd="sng" algn="ctr">
                      <a:noFill/>
                    </a:lnT>
                    <a:lnB w="19050" cap="flat" cmpd="sng" algn="ctr">
                      <a:solidFill>
                        <a:srgbClr val="E5E7EB"/>
                      </a:solidFill>
                      <a:prstDash val="solid"/>
                      <a:round/>
                      <a:headEnd type="none" w="med" len="med"/>
                      <a:tailEnd type="none" w="med" len="med"/>
                    </a:lnB>
                  </a:tcPr>
                </a:tc>
              </a:tr>
              <a:tr h="0">
                <a:tc>
                  <a:txBody>
                    <a:bodyPr/>
                    <a:lstStyle/>
                    <a:p>
                      <a:pPr algn="l" indent="0" marL="0">
                        <a:buNone/>
                      </a:pPr>
                      <a:r>
                        <a:rPr lang="en-US" sz="1400" b="1" dirty="0">
                          <a:solidFill>
                            <a:srgbClr val="1F2937"/>
                          </a:solidFill>
                        </a:rPr>
                        <a:t>TFT, no year (selected)</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0.782 ± 0.075</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0.645 ± 0.023</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0.427 ± 0.113</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−0.321 ± 0.146</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dirty="0">
                          <a:solidFill>
                            <a:srgbClr val="1F2937"/>
                          </a:solidFill>
                        </a:rPr>
                        <a:t>TFT, with year</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0.838 ± 0.070</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0.483 ± 0.193</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0.341 ± 0.106</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−0.242 ± 0.141</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dirty="0">
                          <a:solidFill>
                            <a:srgbClr val="1F2937"/>
                          </a:solidFill>
                        </a:rPr>
                        <a:t>Bidirectional LSTM</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0.809 ± 0.020</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0.562 ± 0.035</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0.390 ± 0.029</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−0.268 ± 0.078</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r h="0">
                <a:tc>
                  <a:txBody>
                    <a:bodyPr/>
                    <a:lstStyle/>
                    <a:p>
                      <a:pPr algn="l" indent="0" marL="0">
                        <a:buNone/>
                      </a:pPr>
                      <a:r>
                        <a:rPr lang="en-US" sz="1400" dirty="0">
                          <a:solidFill>
                            <a:srgbClr val="1F2937"/>
                          </a:solidFill>
                        </a:rPr>
                        <a:t>Persistence</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1.036</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0.383</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0.000</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c>
                  <a:txBody>
                    <a:bodyPr/>
                    <a:lstStyle/>
                    <a:p>
                      <a:pPr algn="r" indent="0" marL="0">
                        <a:buNone/>
                      </a:pPr>
                      <a:r>
                        <a:rPr lang="en-US" sz="1400" dirty="0">
                          <a:solidFill>
                            <a:srgbClr val="4B5563"/>
                          </a:solidFill>
                        </a:rPr>
                        <a:t>+0.062</a:t>
                      </a:r>
                      <a:endParaRPr lang="en-US" sz="1400" dirty="0"/>
                    </a:p>
                  </a:txBody>
                  <a:tcPr marL="109728" marR="109728" marT="109728" marB="109728" anchor="t">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tcPr>
                </a:tc>
              </a:tr>
            </a:tbl>
          </a:graphicData>
        </a:graphic>
      </p:graphicFrame>
      <p:sp>
        <p:nvSpPr>
          <p:cNvPr id="7" name="Takeaway box"/>
          <p:cNvSpPr/>
          <p:nvPr/>
        </p:nvSpPr>
        <p:spPr>
          <a:xfrm>
            <a:off x="812800" y="5376672"/>
            <a:ext cx="10566095" cy="713232"/>
          </a:xfrm>
          <a:prstGeom prst="roundRect">
            <a:avLst>
              <a:gd name="adj" fmla="val 10256"/>
            </a:avLst>
          </a:prstGeom>
          <a:solidFill>
            <a:schemeClr val="accent3"/>
          </a:solidFill>
          <a:ln/>
        </p:spPr>
      </p:sp>
      <p:sp>
        <p:nvSpPr>
          <p:cNvPr id="8"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9"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Both learned models clearly beat persistence. The TFT’s edge over the LSTM is smaller than its seed-to-seed spread, so treat them as comparable.</a:t>
            </a:r>
            <a:endParaRPr lang="en-US" sz="1400" dirty="0"/>
          </a:p>
        </p:txBody>
      </p:sp>
      <p:sp>
        <p:nvSpPr>
          <p:cNvPr id="10"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elnino_seeds.csv · mean ± s.d. over 5 seeds · test Mar 2015 – Sep 2026, leads 1–12</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EL NIÑO · LEAD TIME</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The TFT’s advantage grows with lead time</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Lead time is how far ahead a forecast is made. The chart shows error (RMSE, °C) at each lead from 1 to 12 months.</a:t>
            </a:r>
            <a:endParaRPr lang="en-US" sz="1400" dirty="0"/>
          </a:p>
        </p:txBody>
      </p:sp>
      <p:pic>
        <p:nvPicPr>
          <p:cNvPr id="6" name="Screenshot 1" descr="RMSE by forecast lead time for TFT, LSTM and persistence, months 1 to 12">    </p:cNvPr>
          <p:cNvPicPr>
            <a:picLocks noChangeAspect="1"/>
          </p:cNvPicPr>
          <p:nvPr/>
        </p:nvPicPr>
        <p:blipFill>
          <a:blip r:embed="rId1"/>
          <a:stretch>
            <a:fillRect/>
          </a:stretch>
        </p:blipFill>
        <p:spPr>
          <a:xfrm>
            <a:off x="812800" y="2221653"/>
            <a:ext cx="5080000" cy="2963333"/>
          </a:xfrm>
          <a:prstGeom prst="rect">
            <a:avLst/>
          </a:prstGeom>
        </p:spPr>
      </p:pic>
      <p:sp>
        <p:nvSpPr>
          <p:cNvPr id="7" name="Findings"/>
          <p:cNvSpPr txBox="1"/>
          <p:nvPr/>
        </p:nvSpPr>
        <p:spPr>
          <a:xfrm>
            <a:off x="6248400" y="2194560"/>
            <a:ext cx="5130495" cy="3017520"/>
          </a:xfrm>
          <a:prstGeom prst="rect">
            <a:avLst/>
          </a:prstGeom>
          <a:noFill/>
          <a:ln/>
        </p:spPr>
        <p:txBody>
          <a:bodyPr wrap="square" lIns="0" tIns="0" rIns="0" bIns="0" rtlCol="0" anchor="ctr"/>
          <a:lstStyle/>
          <a:p>
            <a:pPr indent="0" marL="0">
              <a:spcAft>
                <a:spcPts val="200"/>
              </a:spcAft>
              <a:buNone/>
            </a:pPr>
            <a:r>
              <a:rPr lang="en-US" sz="1200" b="1" spc="200" kern="0" dirty="0">
                <a:solidFill>
                  <a:schemeClr val="accent1"/>
                </a:solidFill>
              </a:rPr>
              <a:t>1 MONTH</a:t>
            </a:r>
            <a:endParaRPr lang="en-US" sz="1200" dirty="0"/>
          </a:p>
          <a:p>
            <a:pPr indent="0" marL="0">
              <a:spcAft>
                <a:spcPts val="1600"/>
              </a:spcAft>
              <a:buNone/>
            </a:pPr>
            <a:r>
              <a:rPr lang="en-US" sz="1400" dirty="0">
                <a:solidFill>
                  <a:schemeClr val="tx1"/>
                </a:solidFill>
              </a:rPr>
              <a:t>Persistence is best: 0.247 °C</a:t>
            </a:r>
            <a:endParaRPr lang="en-US" sz="1200" dirty="0"/>
          </a:p>
          <a:p>
            <a:pPr indent="0" marL="0">
              <a:spcAft>
                <a:spcPts val="200"/>
              </a:spcAft>
              <a:buNone/>
            </a:pPr>
            <a:r>
              <a:rPr lang="en-US" sz="1200" b="1" spc="200" kern="0" dirty="0">
                <a:solidFill>
                  <a:schemeClr val="accent1"/>
                </a:solidFill>
              </a:rPr>
              <a:t>2 MONTHS</a:t>
            </a:r>
            <a:endParaRPr lang="en-US" sz="1200" dirty="0"/>
          </a:p>
          <a:p>
            <a:pPr indent="0" marL="0">
              <a:spcAft>
                <a:spcPts val="1600"/>
              </a:spcAft>
              <a:buNone/>
            </a:pPr>
            <a:r>
              <a:rPr lang="en-US" sz="1400" dirty="0">
                <a:solidFill>
                  <a:schemeClr val="tx1"/>
                </a:solidFill>
              </a:rPr>
              <a:t>The LSTM overtakes persistence</a:t>
            </a:r>
            <a:endParaRPr lang="en-US" sz="1200" dirty="0"/>
          </a:p>
          <a:p>
            <a:pPr indent="0" marL="0">
              <a:spcAft>
                <a:spcPts val="200"/>
              </a:spcAft>
              <a:buNone/>
            </a:pPr>
            <a:r>
              <a:rPr lang="en-US" sz="1200" b="1" spc="200" kern="0" dirty="0">
                <a:solidFill>
                  <a:schemeClr val="accent1"/>
                </a:solidFill>
              </a:rPr>
              <a:t>3–12 MONTHS</a:t>
            </a:r>
            <a:endParaRPr lang="en-US" sz="1200" dirty="0"/>
          </a:p>
          <a:p>
            <a:pPr indent="0" marL="0">
              <a:spcAft>
                <a:spcPts val="1600"/>
              </a:spcAft>
              <a:buNone/>
            </a:pPr>
            <a:r>
              <a:rPr lang="en-US" sz="1400" dirty="0">
                <a:solidFill>
                  <a:schemeClr val="tx1"/>
                </a:solidFill>
              </a:rPr>
              <a:t>The TFT is most accurate at every lead</a:t>
            </a:r>
            <a:endParaRPr lang="en-US" sz="1200" dirty="0"/>
          </a:p>
          <a:p>
            <a:pPr indent="0" marL="0">
              <a:spcAft>
                <a:spcPts val="200"/>
              </a:spcAft>
              <a:buNone/>
            </a:pPr>
            <a:r>
              <a:rPr lang="en-US" sz="1200" b="1" spc="200" kern="0" dirty="0">
                <a:solidFill>
                  <a:schemeClr val="accent1"/>
                </a:solidFill>
              </a:rPr>
              <a:t>12 MONTHS</a:t>
            </a:r>
            <a:endParaRPr lang="en-US" sz="1200" dirty="0"/>
          </a:p>
          <a:p>
            <a:pPr indent="0" marL="0">
              <a:spcAft>
                <a:spcPts val="1600"/>
              </a:spcAft>
              <a:buNone/>
            </a:pPr>
            <a:r>
              <a:rPr lang="en-US" sz="1400" dirty="0">
                <a:solidFill>
                  <a:schemeClr val="tx1"/>
                </a:solidFill>
              </a:rPr>
              <a:t>TFT 0.856, LSTM 0.934, persistence 1.376 °C</a:t>
            </a:r>
            <a:endParaRPr lang="en-US" sz="1200" dirty="0"/>
          </a:p>
        </p:txBody>
      </p:sp>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For next month, simply repeating today’s value is hard to beat; from three months ahead the TFT is the most accurate of the three.</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elnino_lead_time_metrics.csv · main run, seed 42</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EL NIÑO · BIAS AND CALIBRATION</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Both models run cold in a warmer test period</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Bias is forecast minus observed, averaged; negative means too cold. An 80 % interval should contain 80 % of observations.</a:t>
            </a:r>
            <a:endParaRPr lang="en-US" sz="1400" dirty="0"/>
          </a:p>
        </p:txBody>
      </p:sp>
      <p:pic>
        <p:nvPicPr>
          <p:cNvPr id="6" name="Screenshot 1" descr="Six-month-ahead TFT median and 80 percent interval against observed Niño 3.4 across the test period">    </p:cNvPr>
          <p:cNvPicPr>
            <a:picLocks noChangeAspect="1"/>
          </p:cNvPicPr>
          <p:nvPr/>
        </p:nvPicPr>
        <p:blipFill>
          <a:blip r:embed="rId1"/>
          <a:stretch>
            <a:fillRect/>
          </a:stretch>
        </p:blipFill>
        <p:spPr>
          <a:xfrm>
            <a:off x="812800" y="2397601"/>
            <a:ext cx="5969000" cy="2611438"/>
          </a:xfrm>
          <a:prstGeom prst="rect">
            <a:avLst/>
          </a:prstGeom>
        </p:spPr>
      </p:pic>
      <p:sp>
        <p:nvSpPr>
          <p:cNvPr id="7" name="Findings"/>
          <p:cNvSpPr txBox="1"/>
          <p:nvPr/>
        </p:nvSpPr>
        <p:spPr>
          <a:xfrm>
            <a:off x="7137400" y="2194560"/>
            <a:ext cx="4241495" cy="301752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−0.32 °C</a:t>
            </a:r>
            <a:endParaRPr lang="en-US" sz="2800" dirty="0"/>
          </a:p>
          <a:p>
            <a:pPr indent="0" marL="0">
              <a:spcAft>
                <a:spcPts val="1200"/>
              </a:spcAft>
              <a:buNone/>
            </a:pPr>
            <a:r>
              <a:rPr lang="en-US" sz="1400" dirty="0">
                <a:solidFill>
                  <a:schemeClr val="tx2"/>
                </a:solidFill>
              </a:rPr>
              <a:t>Mean TFT bias, five seeds (LSTM −0.27 °C)</a:t>
            </a:r>
            <a:endParaRPr lang="en-US" sz="2800" dirty="0"/>
          </a:p>
          <a:p>
            <a:pPr indent="0" marL="0">
              <a:buNone/>
            </a:pPr>
            <a:r>
              <a:rPr lang="en-US" sz="2800" b="1" dirty="0">
                <a:solidFill>
                  <a:schemeClr val="tx1"/>
                </a:solidFill>
                <a:latin typeface="+mj-lt" pitchFamily="34" charset="0"/>
                <a:ea typeface="+mj-lt" pitchFamily="34" charset="-122"/>
                <a:cs typeface="+mj-lt" pitchFamily="34" charset="-120"/>
              </a:rPr>
              <a:t>−0.23 → +0.14 °C</a:t>
            </a:r>
            <a:endParaRPr lang="en-US" sz="2800" dirty="0"/>
          </a:p>
          <a:p>
            <a:pPr indent="0" marL="0">
              <a:spcAft>
                <a:spcPts val="1200"/>
              </a:spcAft>
              <a:buNone/>
            </a:pPr>
            <a:r>
              <a:rPr lang="en-US" sz="1400" dirty="0">
                <a:solidFill>
                  <a:schemeClr val="tx2"/>
                </a:solidFill>
              </a:rPr>
              <a:t>Mean Niño 3.4, training → test period</a:t>
            </a:r>
            <a:endParaRPr lang="en-US" sz="2800" dirty="0"/>
          </a:p>
          <a:p>
            <a:pPr indent="0" marL="0">
              <a:buNone/>
            </a:pPr>
            <a:r>
              <a:rPr lang="en-US" sz="2800" b="1" dirty="0">
                <a:solidFill>
                  <a:schemeClr val="tx1"/>
                </a:solidFill>
                <a:latin typeface="+mj-lt" pitchFamily="34" charset="0"/>
                <a:ea typeface="+mj-lt" pitchFamily="34" charset="-122"/>
                <a:cs typeface="+mj-lt" pitchFamily="34" charset="-120"/>
              </a:rPr>
              <a:t>75.7 %</a:t>
            </a:r>
            <a:endParaRPr lang="en-US" sz="2800" dirty="0"/>
          </a:p>
          <a:p>
            <a:pPr indent="0" marL="0">
              <a:spcAft>
                <a:spcPts val="1200"/>
              </a:spcAft>
              <a:buNone/>
            </a:pPr>
            <a:r>
              <a:rPr lang="en-US" sz="1400" dirty="0">
                <a:solidFill>
                  <a:schemeClr val="tx2"/>
                </a:solidFill>
              </a:rPr>
              <a:t>Inside the 80 % interval; 16.1 % above its top</a:t>
            </a:r>
            <a:endParaRPr lang="en-US" sz="2800" dirty="0"/>
          </a:p>
        </p:txBody>
      </p:sp>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Recent years are warmer than the training years, so both models under-predict; fixing the bias matters more than widening the interval.</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summary_metrics.json, elnino_seeds.csv · chart: 6-month-ahead TFT forecast</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AIR POLLUTION · ARCHITECTURE</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Inside the A3TGCN graph network</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Each day’s readings are a signal on a 75-node station graph: graph convolution mixes space, a GRU mixes time, and attention picks the useful days.</a:t>
            </a:r>
            <a:endParaRPr lang="en-US" sz="1400" dirty="0"/>
          </a:p>
        </p:txBody>
      </p:sp>
      <p:sp>
        <p:nvSpPr>
          <p:cNvPr id="6" name="Step 1"/>
          <p:cNvSpPr/>
          <p:nvPr/>
        </p:nvSpPr>
        <p:spPr>
          <a:xfrm>
            <a:off x="812800" y="2194560"/>
            <a:ext cx="1893763" cy="1188720"/>
          </a:xfrm>
          <a:prstGeom prst="roundRect">
            <a:avLst>
              <a:gd name="adj" fmla="val 6154"/>
            </a:avLst>
          </a:prstGeom>
          <a:solidFill>
            <a:schemeClr val="bg2"/>
          </a:solidFill>
          <a:ln w="9525">
            <a:solidFill>
              <a:schemeClr val="accent5"/>
            </a:solidFill>
            <a:prstDash val="solid"/>
          </a:ln>
        </p:spPr>
      </p:sp>
      <p:sp>
        <p:nvSpPr>
          <p:cNvPr id="7" name="Step text 1"/>
          <p:cNvSpPr txBox="1"/>
          <p:nvPr/>
        </p:nvSpPr>
        <p:spPr>
          <a:xfrm>
            <a:off x="922528" y="2286000"/>
            <a:ext cx="1674307"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Station graph</a:t>
            </a:r>
            <a:endParaRPr lang="en-US" sz="1400" dirty="0"/>
          </a:p>
          <a:p>
            <a:pPr indent="0" marL="0">
              <a:buNone/>
            </a:pPr>
            <a:r>
              <a:rPr lang="en-US" sz="1200" dirty="0">
                <a:solidFill>
                  <a:schemeClr val="tx2"/>
                </a:solidFill>
              </a:rPr>
              <a:t>10 nearest stations, haversine, 705 edges</a:t>
            </a:r>
            <a:endParaRPr lang="en-US" sz="1400" dirty="0"/>
          </a:p>
        </p:txBody>
      </p:sp>
      <p:sp>
        <p:nvSpPr>
          <p:cNvPr id="8" name="Text 5"/>
          <p:cNvSpPr txBox="1"/>
          <p:nvPr/>
        </p:nvSpPr>
        <p:spPr>
          <a:xfrm>
            <a:off x="2706563" y="2194560"/>
            <a:ext cx="274320" cy="118872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9" name="Step 2"/>
          <p:cNvSpPr/>
          <p:nvPr/>
        </p:nvSpPr>
        <p:spPr>
          <a:xfrm>
            <a:off x="2980883" y="2194560"/>
            <a:ext cx="1893763" cy="1188720"/>
          </a:xfrm>
          <a:prstGeom prst="roundRect">
            <a:avLst>
              <a:gd name="adj" fmla="val 6154"/>
            </a:avLst>
          </a:prstGeom>
          <a:solidFill>
            <a:schemeClr val="bg2"/>
          </a:solidFill>
          <a:ln w="9525">
            <a:solidFill>
              <a:schemeClr val="accent5"/>
            </a:solidFill>
            <a:prstDash val="solid"/>
          </a:ln>
        </p:spPr>
      </p:sp>
      <p:sp>
        <p:nvSpPr>
          <p:cNvPr id="10" name="Step text 2"/>
          <p:cNvSpPr txBox="1"/>
          <p:nvPr/>
        </p:nvSpPr>
        <p:spPr>
          <a:xfrm>
            <a:off x="3090611" y="2286000"/>
            <a:ext cx="1674307"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Graph conv.</a:t>
            </a:r>
            <a:endParaRPr lang="en-US" sz="1400" dirty="0"/>
          </a:p>
          <a:p>
            <a:pPr indent="0" marL="0">
              <a:buNone/>
            </a:pPr>
            <a:r>
              <a:rPr lang="en-US" sz="1200" dirty="0">
                <a:solidFill>
                  <a:schemeClr val="tx2"/>
                </a:solidFill>
              </a:rPr>
              <a:t>Â = D^−½ (A + I) D^−½</a:t>
            </a:r>
            <a:endParaRPr lang="en-US" sz="1400" dirty="0"/>
          </a:p>
        </p:txBody>
      </p:sp>
      <p:sp>
        <p:nvSpPr>
          <p:cNvPr id="11" name="Text 8"/>
          <p:cNvSpPr txBox="1"/>
          <p:nvPr/>
        </p:nvSpPr>
        <p:spPr>
          <a:xfrm>
            <a:off x="4874646" y="2194560"/>
            <a:ext cx="274320" cy="118872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12" name="Step 3"/>
          <p:cNvSpPr/>
          <p:nvPr/>
        </p:nvSpPr>
        <p:spPr>
          <a:xfrm>
            <a:off x="5148966" y="2194560"/>
            <a:ext cx="1893763" cy="1188720"/>
          </a:xfrm>
          <a:prstGeom prst="roundRect">
            <a:avLst>
              <a:gd name="adj" fmla="val 6154"/>
            </a:avLst>
          </a:prstGeom>
          <a:solidFill>
            <a:schemeClr val="bg2"/>
          </a:solidFill>
          <a:ln w="9525">
            <a:solidFill>
              <a:schemeClr val="accent5"/>
            </a:solidFill>
            <a:prstDash val="solid"/>
          </a:ln>
        </p:spPr>
      </p:sp>
      <p:sp>
        <p:nvSpPr>
          <p:cNvPr id="13" name="Step text 3"/>
          <p:cNvSpPr txBox="1"/>
          <p:nvPr/>
        </p:nvSpPr>
        <p:spPr>
          <a:xfrm>
            <a:off x="5258694" y="2286000"/>
            <a:ext cx="1674307"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GRU</a:t>
            </a:r>
            <a:endParaRPr lang="en-US" sz="1400" dirty="0"/>
          </a:p>
          <a:p>
            <a:pPr indent="0" marL="0">
              <a:buNone/>
            </a:pPr>
            <a:r>
              <a:rPr lang="en-US" sz="1200" dirty="0">
                <a:solidFill>
                  <a:schemeClr val="tx2"/>
                </a:solidFill>
              </a:rPr>
              <a:t>Hidden state over 7 snapshots</a:t>
            </a:r>
            <a:endParaRPr lang="en-US" sz="1400" dirty="0"/>
          </a:p>
        </p:txBody>
      </p:sp>
      <p:sp>
        <p:nvSpPr>
          <p:cNvPr id="14" name="Text 11"/>
          <p:cNvSpPr txBox="1"/>
          <p:nvPr/>
        </p:nvSpPr>
        <p:spPr>
          <a:xfrm>
            <a:off x="7042729" y="2194560"/>
            <a:ext cx="274320" cy="118872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15" name="Step 4"/>
          <p:cNvSpPr/>
          <p:nvPr/>
        </p:nvSpPr>
        <p:spPr>
          <a:xfrm>
            <a:off x="7317049" y="2194560"/>
            <a:ext cx="1893763" cy="1188720"/>
          </a:xfrm>
          <a:prstGeom prst="roundRect">
            <a:avLst>
              <a:gd name="adj" fmla="val 6154"/>
            </a:avLst>
          </a:prstGeom>
          <a:solidFill>
            <a:schemeClr val="bg2"/>
          </a:solidFill>
          <a:ln w="9525">
            <a:solidFill>
              <a:schemeClr val="accent5"/>
            </a:solidFill>
            <a:prstDash val="solid"/>
          </a:ln>
        </p:spPr>
      </p:sp>
      <p:sp>
        <p:nvSpPr>
          <p:cNvPr id="16" name="Step text 4"/>
          <p:cNvSpPr txBox="1"/>
          <p:nvPr/>
        </p:nvSpPr>
        <p:spPr>
          <a:xfrm>
            <a:off x="7426777" y="2286000"/>
            <a:ext cx="1674307"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Attention</a:t>
            </a:r>
            <a:endParaRPr lang="en-US" sz="1400" dirty="0"/>
          </a:p>
          <a:p>
            <a:pPr indent="0" marL="0">
              <a:buNone/>
            </a:pPr>
            <a:r>
              <a:rPr lang="en-US" sz="1200" dirty="0">
                <a:solidFill>
                  <a:schemeClr val="tx2"/>
                </a:solidFill>
              </a:rPr>
              <a:t>Softmax weights on the 7 states</a:t>
            </a:r>
            <a:endParaRPr lang="en-US" sz="1400" dirty="0"/>
          </a:p>
        </p:txBody>
      </p:sp>
      <p:sp>
        <p:nvSpPr>
          <p:cNvPr id="17" name="Text 14"/>
          <p:cNvSpPr txBox="1"/>
          <p:nvPr/>
        </p:nvSpPr>
        <p:spPr>
          <a:xfrm>
            <a:off x="9210812" y="2194560"/>
            <a:ext cx="274320" cy="118872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18" name="Step 5"/>
          <p:cNvSpPr/>
          <p:nvPr/>
        </p:nvSpPr>
        <p:spPr>
          <a:xfrm>
            <a:off x="9485132" y="2194560"/>
            <a:ext cx="1893763" cy="1188720"/>
          </a:xfrm>
          <a:prstGeom prst="roundRect">
            <a:avLst>
              <a:gd name="adj" fmla="val 6154"/>
            </a:avLst>
          </a:prstGeom>
          <a:solidFill>
            <a:schemeClr val="bg2"/>
          </a:solidFill>
          <a:ln w="9525">
            <a:solidFill>
              <a:schemeClr val="accent5"/>
            </a:solidFill>
            <a:prstDash val="solid"/>
          </a:ln>
        </p:spPr>
      </p:sp>
      <p:sp>
        <p:nvSpPr>
          <p:cNvPr id="19" name="Step text 5"/>
          <p:cNvSpPr txBox="1"/>
          <p:nvPr/>
        </p:nvSpPr>
        <p:spPr>
          <a:xfrm>
            <a:off x="9594860" y="2286000"/>
            <a:ext cx="1674307"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MLP head</a:t>
            </a:r>
            <a:endParaRPr lang="en-US" sz="1400" dirty="0"/>
          </a:p>
          <a:p>
            <a:pPr indent="0" marL="0">
              <a:buNone/>
            </a:pPr>
            <a:r>
              <a:rPr lang="en-US" sz="1200" dirty="0">
                <a:solidFill>
                  <a:schemeClr val="tx2"/>
                </a:solidFill>
              </a:rPr>
              <a:t>32 → 16 → 1, next-day PM2.5</a:t>
            </a:r>
            <a:endParaRPr lang="en-US" sz="1400" dirty="0"/>
          </a:p>
        </p:txBody>
      </p:sp>
      <p:sp>
        <p:nvSpPr>
          <p:cNvPr id="20" name="Card 1"/>
          <p:cNvSpPr/>
          <p:nvPr/>
        </p:nvSpPr>
        <p:spPr>
          <a:xfrm>
            <a:off x="812800" y="3566160"/>
            <a:ext cx="3420432" cy="1645920"/>
          </a:xfrm>
          <a:prstGeom prst="roundRect">
            <a:avLst>
              <a:gd name="adj" fmla="val 4444"/>
            </a:avLst>
          </a:prstGeom>
          <a:solidFill>
            <a:schemeClr val="bg2"/>
          </a:solidFill>
          <a:ln w="9525">
            <a:solidFill>
              <a:schemeClr val="accent5"/>
            </a:solidFill>
            <a:prstDash val="solid"/>
          </a:ln>
        </p:spPr>
      </p:sp>
      <p:sp>
        <p:nvSpPr>
          <p:cNvPr id="21" name="Card text 1"/>
          <p:cNvSpPr txBox="1"/>
          <p:nvPr/>
        </p:nvSpPr>
        <p:spPr>
          <a:xfrm>
            <a:off x="977392" y="3703320"/>
            <a:ext cx="3091248" cy="13716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Edge weights</a:t>
            </a:r>
            <a:endParaRPr lang="en-US" sz="1600" dirty="0"/>
          </a:p>
          <a:p>
            <a:pPr indent="0" marL="0">
              <a:spcAft>
                <a:spcPts val="400"/>
              </a:spcAft>
              <a:buNone/>
            </a:pPr>
            <a:r>
              <a:rPr lang="en-US" sz="1200" dirty="0">
                <a:solidFill>
                  <a:schemeClr val="tx2"/>
                </a:solidFill>
              </a:rPr>
              <a:t>w = 1 / (d + 1), d in km, edges beyond 500 km dropped</a:t>
            </a:r>
            <a:endParaRPr lang="en-US" sz="1600" dirty="0"/>
          </a:p>
        </p:txBody>
      </p:sp>
      <p:sp>
        <p:nvSpPr>
          <p:cNvPr id="22" name="Card 2"/>
          <p:cNvSpPr/>
          <p:nvPr/>
        </p:nvSpPr>
        <p:spPr>
          <a:xfrm>
            <a:off x="4385632" y="3566160"/>
            <a:ext cx="3420432" cy="1645920"/>
          </a:xfrm>
          <a:prstGeom prst="roundRect">
            <a:avLst>
              <a:gd name="adj" fmla="val 4444"/>
            </a:avLst>
          </a:prstGeom>
          <a:solidFill>
            <a:schemeClr val="bg2"/>
          </a:solidFill>
          <a:ln w="9525">
            <a:solidFill>
              <a:schemeClr val="accent5"/>
            </a:solidFill>
            <a:prstDash val="solid"/>
          </a:ln>
        </p:spPr>
      </p:sp>
      <p:sp>
        <p:nvSpPr>
          <p:cNvPr id="23" name="Card text 2"/>
          <p:cNvSpPr txBox="1"/>
          <p:nvPr/>
        </p:nvSpPr>
        <p:spPr>
          <a:xfrm>
            <a:off x="4550224" y="3703320"/>
            <a:ext cx="3091248" cy="13716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Masked loss</a:t>
            </a:r>
            <a:endParaRPr lang="en-US" sz="1600" dirty="0"/>
          </a:p>
          <a:p>
            <a:pPr indent="0" marL="0">
              <a:spcAft>
                <a:spcPts val="400"/>
              </a:spcAft>
              <a:buNone/>
            </a:pPr>
            <a:r>
              <a:rPr lang="en-US" sz="1200" dirty="0">
                <a:solidFill>
                  <a:schemeClr val="tx2"/>
                </a:solidFill>
              </a:rPr>
              <a:t>MSE only on station-days with a reading; missing inputs set to the training mean</a:t>
            </a:r>
            <a:endParaRPr lang="en-US" sz="1600" dirty="0"/>
          </a:p>
        </p:txBody>
      </p:sp>
      <p:sp>
        <p:nvSpPr>
          <p:cNvPr id="24" name="Card 3"/>
          <p:cNvSpPr/>
          <p:nvPr/>
        </p:nvSpPr>
        <p:spPr>
          <a:xfrm>
            <a:off x="7958463" y="3566160"/>
            <a:ext cx="3420432" cy="1645920"/>
          </a:xfrm>
          <a:prstGeom prst="roundRect">
            <a:avLst>
              <a:gd name="adj" fmla="val 4444"/>
            </a:avLst>
          </a:prstGeom>
          <a:solidFill>
            <a:schemeClr val="bg2"/>
          </a:solidFill>
          <a:ln w="9525">
            <a:solidFill>
              <a:schemeClr val="accent5"/>
            </a:solidFill>
            <a:prstDash val="solid"/>
          </a:ln>
        </p:spPr>
      </p:sp>
      <p:sp>
        <p:nvSpPr>
          <p:cNvPr id="25" name="Card text 3"/>
          <p:cNvSpPr txBox="1"/>
          <p:nvPr/>
        </p:nvSpPr>
        <p:spPr>
          <a:xfrm>
            <a:off x="8123055" y="3703320"/>
            <a:ext cx="3091248" cy="13716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Data</a:t>
            </a:r>
            <a:endParaRPr lang="en-US" sz="1600" dirty="0"/>
          </a:p>
          <a:p>
            <a:pPr indent="0" marL="0">
              <a:spcAft>
                <a:spcPts val="400"/>
              </a:spcAft>
              <a:buNone/>
            </a:pPr>
            <a:r>
              <a:rPr lang="en-US" sz="1200" dirty="0">
                <a:solidFill>
                  <a:schemeClr val="tx2"/>
                </a:solidFill>
              </a:rPr>
              <a:t>118 / 21 / 20 windows; median one reporting station per date</a:t>
            </a:r>
            <a:endParaRPr lang="en-US" sz="1600" dirty="0"/>
          </a:p>
        </p:txBody>
      </p:sp>
      <p:sp>
        <p:nvSpPr>
          <p:cNvPr id="26" name="Takeaway box"/>
          <p:cNvSpPr/>
          <p:nvPr/>
        </p:nvSpPr>
        <p:spPr>
          <a:xfrm>
            <a:off x="812800" y="5376672"/>
            <a:ext cx="10566095" cy="713232"/>
          </a:xfrm>
          <a:prstGeom prst="roundRect">
            <a:avLst>
              <a:gd name="adj" fmla="val 10256"/>
            </a:avLst>
          </a:prstGeom>
          <a:solidFill>
            <a:schemeClr val="accent3"/>
          </a:solidFill>
          <a:ln/>
        </p:spPr>
      </p:sp>
      <p:sp>
        <p:nvSpPr>
          <p:cNvPr id="27"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28"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The architecture suits sensor networks, but with one station reporting on a typical date the graph rarely has neighbours to learn from.</a:t>
            </a:r>
            <a:endParaRPr lang="en-US" sz="1400" dirty="0"/>
          </a:p>
        </p:txBody>
      </p:sp>
      <p:sp>
        <p:nvSpPr>
          <p:cNvPr id="29"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research paper §3.2 and §4.2 · Bai et al. A3T-GCN · 6,984 parameters</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AIR POLLUTION · NEXT-DAY PM2.5</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Modest gains, no exceedance skill yet</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Forecasts are scored only where a reading exists. An exceedance is a day with PM2.5 ≥ 35.5 µg/m³, i.e. AQI above 100.</a:t>
            </a:r>
            <a:endParaRPr lang="en-US" sz="1400" dirty="0"/>
          </a:p>
        </p:txBody>
      </p:sp>
      <p:sp>
        <p:nvSpPr>
          <p:cNvPr id="6" name="Findings"/>
          <p:cNvSpPr txBox="1"/>
          <p:nvPr/>
        </p:nvSpPr>
        <p:spPr>
          <a:xfrm>
            <a:off x="812800" y="2194560"/>
            <a:ext cx="7162495" cy="301752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46.6 vs. 52.0 µg/m³</a:t>
            </a:r>
            <a:endParaRPr lang="en-US" sz="2800" dirty="0"/>
          </a:p>
          <a:p>
            <a:pPr indent="0" marL="0">
              <a:spcAft>
                <a:spcPts val="1200"/>
              </a:spcAft>
              <a:buNone/>
            </a:pPr>
            <a:r>
              <a:rPr lang="en-US" sz="1400" dirty="0">
                <a:solidFill>
                  <a:schemeClr val="tx2"/>
                </a:solidFill>
              </a:rPr>
              <a:t>RMSE, model vs. persistence: about 10 % lower</a:t>
            </a:r>
            <a:endParaRPr lang="en-US" sz="2800" dirty="0"/>
          </a:p>
          <a:p>
            <a:pPr indent="0" marL="0">
              <a:buNone/>
            </a:pPr>
            <a:r>
              <a:rPr lang="en-US" sz="2800" b="1" dirty="0">
                <a:solidFill>
                  <a:schemeClr val="tx1"/>
                </a:solidFill>
                <a:latin typeface="+mj-lt" pitchFamily="34" charset="0"/>
                <a:ea typeface="+mj-lt" pitchFamily="34" charset="-122"/>
                <a:cs typeface="+mj-lt" pitchFamily="34" charset="-120"/>
              </a:rPr>
              <a:t>F1 0.828 = always-alert</a:t>
            </a:r>
            <a:endParaRPr lang="en-US" sz="2800" dirty="0"/>
          </a:p>
          <a:p>
            <a:pPr indent="0" marL="0">
              <a:spcAft>
                <a:spcPts val="1200"/>
              </a:spcAft>
              <a:buNone/>
            </a:pPr>
            <a:r>
              <a:rPr lang="en-US" sz="1400" dirty="0">
                <a:solidFill>
                  <a:schemeClr val="tx2"/>
                </a:solidFill>
              </a:rPr>
              <a:t>The model flags every day; persistence scores 0.881</a:t>
            </a:r>
            <a:endParaRPr lang="en-US" sz="2800" dirty="0"/>
          </a:p>
          <a:p>
            <a:pPr indent="0" marL="0">
              <a:buNone/>
            </a:pPr>
            <a:r>
              <a:rPr lang="en-US" sz="2800" b="1" dirty="0">
                <a:solidFill>
                  <a:schemeClr val="tx1"/>
                </a:solidFill>
                <a:latin typeface="+mj-lt" pitchFamily="34" charset="0"/>
                <a:ea typeface="+mj-lt" pitchFamily="34" charset="-122"/>
                <a:cs typeface="+mj-lt" pitchFamily="34" charset="-120"/>
              </a:rPr>
              <a:t>85 of 1,500</a:t>
            </a:r>
            <a:endParaRPr lang="en-US" sz="2800" dirty="0"/>
          </a:p>
          <a:p>
            <a:pPr indent="0" marL="0">
              <a:spcAft>
                <a:spcPts val="1200"/>
              </a:spcAft>
              <a:buNone/>
            </a:pPr>
            <a:r>
              <a:rPr lang="en-US" sz="1400" dirty="0">
                <a:solidFill>
                  <a:schemeClr val="tx2"/>
                </a:solidFill>
              </a:rPr>
              <a:t>Test station-days with a reading, from 36 stations</a:t>
            </a:r>
            <a:endParaRPr lang="en-US" sz="2800" dirty="0"/>
          </a:p>
        </p:txBody>
      </p:sp>
      <p:pic>
        <p:nvPicPr>
          <p:cNvPr id="7" name="Screenshot 2" descr="Exceedance confusion matrix: 60 true positives, 25 false positives, no false negatives, no true negatives">    </p:cNvPr>
          <p:cNvPicPr>
            <a:picLocks noChangeAspect="1"/>
          </p:cNvPicPr>
          <p:nvPr/>
        </p:nvPicPr>
        <p:blipFill>
          <a:blip r:embed="rId1"/>
          <a:stretch>
            <a:fillRect/>
          </a:stretch>
        </p:blipFill>
        <p:spPr>
          <a:xfrm>
            <a:off x="8330895" y="2348653"/>
            <a:ext cx="3048000" cy="2709333"/>
          </a:xfrm>
          <a:prstGeom prst="rect">
            <a:avLst/>
          </a:prstGeom>
        </p:spPr>
      </p:pic>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Concentration forecasts beat persistence slightly, but 85 test readings are too few to show the model can spot unhealthy-air days.</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summary_metrics.json · chart: exceedance confusion matrix</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WEATHER · ARCHITECTURE</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A weather model on a Fibonacci spherical mesh</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Given the last two 6-hour global fields, the model predicts the next one: grid points are mapped onto an evenly spaced mesh and back.</a:t>
            </a:r>
            <a:endParaRPr lang="en-US" sz="1400" dirty="0"/>
          </a:p>
        </p:txBody>
      </p:sp>
      <p:pic>
        <p:nvPicPr>
          <p:cNvPr id="6" name="Screenshot 1" descr="Fibonacci spherical mesh of 2,000 nodes over the 2,048-node ERA5 grid, shown on a sphere and in equirectangular projection">    </p:cNvPr>
          <p:cNvPicPr>
            <a:picLocks noChangeAspect="1"/>
          </p:cNvPicPr>
          <p:nvPr/>
        </p:nvPicPr>
        <p:blipFill>
          <a:blip r:embed="rId1"/>
          <a:stretch>
            <a:fillRect/>
          </a:stretch>
        </p:blipFill>
        <p:spPr>
          <a:xfrm>
            <a:off x="812800" y="2372794"/>
            <a:ext cx="5969000" cy="2661052"/>
          </a:xfrm>
          <a:prstGeom prst="rect">
            <a:avLst/>
          </a:prstGeom>
        </p:spPr>
      </p:pic>
      <p:sp>
        <p:nvSpPr>
          <p:cNvPr id="7" name="Findings"/>
          <p:cNvSpPr txBox="1"/>
          <p:nvPr/>
        </p:nvSpPr>
        <p:spPr>
          <a:xfrm>
            <a:off x="7137400" y="2194560"/>
            <a:ext cx="4241495" cy="3017520"/>
          </a:xfrm>
          <a:prstGeom prst="rect">
            <a:avLst/>
          </a:prstGeom>
          <a:noFill/>
          <a:ln/>
        </p:spPr>
        <p:txBody>
          <a:bodyPr wrap="square" lIns="0" tIns="0" rIns="0" bIns="0" rtlCol="0" anchor="ctr"/>
          <a:lstStyle/>
          <a:p>
            <a:pPr indent="0" marL="0">
              <a:spcAft>
                <a:spcPts val="200"/>
              </a:spcAft>
              <a:buNone/>
            </a:pPr>
            <a:r>
              <a:rPr lang="en-US" sz="1200" b="1" spc="200" kern="0" dirty="0">
                <a:solidFill>
                  <a:schemeClr val="accent1"/>
                </a:solidFill>
              </a:rPr>
              <a:t>ENCODER</a:t>
            </a:r>
            <a:endParaRPr lang="en-US" sz="1200" dirty="0"/>
          </a:p>
          <a:p>
            <a:pPr indent="0" marL="0">
              <a:spcAft>
                <a:spcPts val="1600"/>
              </a:spcAft>
              <a:buNone/>
            </a:pPr>
            <a:r>
              <a:rPr lang="en-US" sz="1400" dirty="0">
                <a:solidFill>
                  <a:schemeClr val="tx1"/>
                </a:solidFill>
              </a:rPr>
              <a:t>2,048 grid points → 2,000 mesh nodes</a:t>
            </a:r>
            <a:endParaRPr lang="en-US" sz="1200" dirty="0"/>
          </a:p>
          <a:p>
            <a:pPr indent="0" marL="0">
              <a:spcAft>
                <a:spcPts val="200"/>
              </a:spcAft>
              <a:buNone/>
            </a:pPr>
            <a:r>
              <a:rPr lang="en-US" sz="1200" b="1" spc="200" kern="0" dirty="0">
                <a:solidFill>
                  <a:schemeClr val="accent1"/>
                </a:solidFill>
              </a:rPr>
              <a:t>PROCESSOR</a:t>
            </a:r>
            <a:endParaRPr lang="en-US" sz="1200" dirty="0"/>
          </a:p>
          <a:p>
            <a:pPr indent="0" marL="0">
              <a:spcAft>
                <a:spcPts val="1600"/>
              </a:spcAft>
              <a:buNone/>
            </a:pPr>
            <a:r>
              <a:rPr lang="en-US" sz="1400" dirty="0">
                <a:solidFill>
                  <a:schemeClr val="tx1"/>
                </a:solidFill>
              </a:rPr>
              <a:t>4 GraphSAGE layers pass messages between mesh neighbours; Niño 3.4 can be added to each layer</a:t>
            </a:r>
            <a:endParaRPr lang="en-US" sz="1200" dirty="0"/>
          </a:p>
          <a:p>
            <a:pPr indent="0" marL="0">
              <a:spcAft>
                <a:spcPts val="200"/>
              </a:spcAft>
              <a:buNone/>
            </a:pPr>
            <a:r>
              <a:rPr lang="en-US" sz="1200" b="1" spc="200" kern="0" dirty="0">
                <a:solidFill>
                  <a:schemeClr val="accent1"/>
                </a:solidFill>
              </a:rPr>
              <a:t>DECODER</a:t>
            </a:r>
            <a:endParaRPr lang="en-US" sz="1200" dirty="0"/>
          </a:p>
          <a:p>
            <a:pPr indent="0" marL="0">
              <a:spcAft>
                <a:spcPts val="1600"/>
              </a:spcAft>
              <a:buNone/>
            </a:pPr>
            <a:r>
              <a:rPr lang="en-US" sz="1400" dirty="0">
                <a:solidFill>
                  <a:schemeClr val="tx1"/>
                </a:solidFill>
              </a:rPr>
              <a:t>Mesh → grid, with a skip connection</a:t>
            </a:r>
            <a:endParaRPr lang="en-US" sz="1200" dirty="0"/>
          </a:p>
        </p:txBody>
      </p:sp>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An evenly spaced mesh avoids the crowding of grid points near the poles that distorts regular-grid models.</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ERA5 2 m temperature and precipitation, 5.625°, 6-hourly, 2020–2021</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WEATHER · LAYERS</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Inside the encoder–processor–decoder</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Features move from the grid to the mesh, are refined by message passing between mesh neighbours, then return to the grid as a forecast.</a:t>
            </a:r>
            <a:endParaRPr lang="en-US" sz="1400" dirty="0"/>
          </a:p>
        </p:txBody>
      </p:sp>
      <p:sp>
        <p:nvSpPr>
          <p:cNvPr id="6" name="Step 1"/>
          <p:cNvSpPr/>
          <p:nvPr/>
        </p:nvSpPr>
        <p:spPr>
          <a:xfrm>
            <a:off x="812800" y="2194560"/>
            <a:ext cx="1893763" cy="1188720"/>
          </a:xfrm>
          <a:prstGeom prst="roundRect">
            <a:avLst>
              <a:gd name="adj" fmla="val 6154"/>
            </a:avLst>
          </a:prstGeom>
          <a:solidFill>
            <a:schemeClr val="bg2"/>
          </a:solidFill>
          <a:ln w="9525">
            <a:solidFill>
              <a:schemeClr val="accent5"/>
            </a:solidFill>
            <a:prstDash val="solid"/>
          </a:ln>
        </p:spPr>
      </p:sp>
      <p:sp>
        <p:nvSpPr>
          <p:cNvPr id="7" name="Step text 1"/>
          <p:cNvSpPr txBox="1"/>
          <p:nvPr/>
        </p:nvSpPr>
        <p:spPr>
          <a:xfrm>
            <a:off x="922528" y="2286000"/>
            <a:ext cx="1674307"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Embed</a:t>
            </a:r>
            <a:endParaRPr lang="en-US" sz="1400" dirty="0"/>
          </a:p>
          <a:p>
            <a:pPr indent="0" marL="0">
              <a:buNone/>
            </a:pPr>
            <a:r>
              <a:rPr lang="en-US" sz="1200" dirty="0">
                <a:solidFill>
                  <a:schemeClr val="tx2"/>
                </a:solidFill>
              </a:rPr>
              <a:t>12 inputs → 128, Linear + LayerNorm + GELU</a:t>
            </a:r>
            <a:endParaRPr lang="en-US" sz="1400" dirty="0"/>
          </a:p>
        </p:txBody>
      </p:sp>
      <p:sp>
        <p:nvSpPr>
          <p:cNvPr id="8" name="Text 5"/>
          <p:cNvSpPr txBox="1"/>
          <p:nvPr/>
        </p:nvSpPr>
        <p:spPr>
          <a:xfrm>
            <a:off x="2706563" y="2194560"/>
            <a:ext cx="274320" cy="118872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9" name="Step 2"/>
          <p:cNvSpPr/>
          <p:nvPr/>
        </p:nvSpPr>
        <p:spPr>
          <a:xfrm>
            <a:off x="2980883" y="2194560"/>
            <a:ext cx="1893763" cy="1188720"/>
          </a:xfrm>
          <a:prstGeom prst="roundRect">
            <a:avLst>
              <a:gd name="adj" fmla="val 6154"/>
            </a:avLst>
          </a:prstGeom>
          <a:solidFill>
            <a:schemeClr val="bg2"/>
          </a:solidFill>
          <a:ln w="9525">
            <a:solidFill>
              <a:schemeClr val="accent5"/>
            </a:solidFill>
            <a:prstDash val="solid"/>
          </a:ln>
        </p:spPr>
      </p:sp>
      <p:sp>
        <p:nvSpPr>
          <p:cNvPr id="10" name="Step text 2"/>
          <p:cNvSpPr txBox="1"/>
          <p:nvPr/>
        </p:nvSpPr>
        <p:spPr>
          <a:xfrm>
            <a:off x="3090611" y="2286000"/>
            <a:ext cx="1674307"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Encoder</a:t>
            </a:r>
            <a:endParaRPr lang="en-US" sz="1400" dirty="0"/>
          </a:p>
          <a:p>
            <a:pPr indent="0" marL="0">
              <a:buNone/>
            </a:pPr>
            <a:r>
              <a:rPr lang="en-US" sz="1200" dirty="0">
                <a:solidFill>
                  <a:schemeClr val="tx2"/>
                </a:solidFill>
              </a:rPr>
              <a:t>Bipartite SAGEConv, grid → mesh</a:t>
            </a:r>
            <a:endParaRPr lang="en-US" sz="1400" dirty="0"/>
          </a:p>
        </p:txBody>
      </p:sp>
      <p:sp>
        <p:nvSpPr>
          <p:cNvPr id="11" name="Text 8"/>
          <p:cNvSpPr txBox="1"/>
          <p:nvPr/>
        </p:nvSpPr>
        <p:spPr>
          <a:xfrm>
            <a:off x="4874646" y="2194560"/>
            <a:ext cx="274320" cy="118872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12" name="Step 3"/>
          <p:cNvSpPr/>
          <p:nvPr/>
        </p:nvSpPr>
        <p:spPr>
          <a:xfrm>
            <a:off x="5148966" y="2194560"/>
            <a:ext cx="1893763" cy="1188720"/>
          </a:xfrm>
          <a:prstGeom prst="roundRect">
            <a:avLst>
              <a:gd name="adj" fmla="val 6154"/>
            </a:avLst>
          </a:prstGeom>
          <a:solidFill>
            <a:schemeClr val="bg2"/>
          </a:solidFill>
          <a:ln w="9525">
            <a:solidFill>
              <a:schemeClr val="accent5"/>
            </a:solidFill>
            <a:prstDash val="solid"/>
          </a:ln>
        </p:spPr>
      </p:sp>
      <p:sp>
        <p:nvSpPr>
          <p:cNvPr id="13" name="Step text 3"/>
          <p:cNvSpPr txBox="1"/>
          <p:nvPr/>
        </p:nvSpPr>
        <p:spPr>
          <a:xfrm>
            <a:off x="5258694" y="2286000"/>
            <a:ext cx="1674307"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Processor</a:t>
            </a:r>
            <a:endParaRPr lang="en-US" sz="1400" dirty="0"/>
          </a:p>
          <a:p>
            <a:pPr indent="0" marL="0">
              <a:buNone/>
            </a:pPr>
            <a:r>
              <a:rPr lang="en-US" sz="1200" dirty="0">
                <a:solidFill>
                  <a:schemeClr val="tx2"/>
                </a:solidFill>
              </a:rPr>
              <a:t>4 residual SAGEConv layers, 8 neighbours</a:t>
            </a:r>
            <a:endParaRPr lang="en-US" sz="1400" dirty="0"/>
          </a:p>
        </p:txBody>
      </p:sp>
      <p:sp>
        <p:nvSpPr>
          <p:cNvPr id="14" name="Text 11"/>
          <p:cNvSpPr txBox="1"/>
          <p:nvPr/>
        </p:nvSpPr>
        <p:spPr>
          <a:xfrm>
            <a:off x="7042729" y="2194560"/>
            <a:ext cx="274320" cy="118872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15" name="Step 4"/>
          <p:cNvSpPr/>
          <p:nvPr/>
        </p:nvSpPr>
        <p:spPr>
          <a:xfrm>
            <a:off x="7317049" y="2194560"/>
            <a:ext cx="1893763" cy="1188720"/>
          </a:xfrm>
          <a:prstGeom prst="roundRect">
            <a:avLst>
              <a:gd name="adj" fmla="val 6154"/>
            </a:avLst>
          </a:prstGeom>
          <a:solidFill>
            <a:schemeClr val="bg2"/>
          </a:solidFill>
          <a:ln w="9525">
            <a:solidFill>
              <a:schemeClr val="accent5"/>
            </a:solidFill>
            <a:prstDash val="solid"/>
          </a:ln>
        </p:spPr>
      </p:sp>
      <p:sp>
        <p:nvSpPr>
          <p:cNvPr id="16" name="Step text 4"/>
          <p:cNvSpPr txBox="1"/>
          <p:nvPr/>
        </p:nvSpPr>
        <p:spPr>
          <a:xfrm>
            <a:off x="7426777" y="2286000"/>
            <a:ext cx="1674307"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Decoder</a:t>
            </a:r>
            <a:endParaRPr lang="en-US" sz="1400" dirty="0"/>
          </a:p>
          <a:p>
            <a:pPr indent="0" marL="0">
              <a:buNone/>
            </a:pPr>
            <a:r>
              <a:rPr lang="en-US" sz="1200" dirty="0">
                <a:solidFill>
                  <a:schemeClr val="tx2"/>
                </a:solidFill>
              </a:rPr>
              <a:t>Mesh → grid, plus skip connection</a:t>
            </a:r>
            <a:endParaRPr lang="en-US" sz="1400" dirty="0"/>
          </a:p>
        </p:txBody>
      </p:sp>
      <p:sp>
        <p:nvSpPr>
          <p:cNvPr id="17" name="Text 14"/>
          <p:cNvSpPr txBox="1"/>
          <p:nvPr/>
        </p:nvSpPr>
        <p:spPr>
          <a:xfrm>
            <a:off x="9210812" y="2194560"/>
            <a:ext cx="274320" cy="1188720"/>
          </a:xfrm>
          <a:prstGeom prst="rect">
            <a:avLst/>
          </a:prstGeom>
          <a:noFill/>
          <a:ln/>
        </p:spPr>
        <p:txBody>
          <a:bodyPr wrap="square" lIns="0" tIns="0" rIns="0" bIns="0" rtlCol="0" anchor="ctr"/>
          <a:lstStyle/>
          <a:p>
            <a:pPr algn="ctr" indent="0" marL="0">
              <a:buNone/>
            </a:pPr>
            <a:r>
              <a:rPr lang="en-US" sz="1800" dirty="0">
                <a:solidFill>
                  <a:schemeClr val="accent4"/>
                </a:solidFill>
              </a:rPr>
              <a:t>→</a:t>
            </a:r>
            <a:endParaRPr lang="en-US" sz="1800" dirty="0"/>
          </a:p>
        </p:txBody>
      </p:sp>
      <p:sp>
        <p:nvSpPr>
          <p:cNvPr id="18" name="Step 5"/>
          <p:cNvSpPr/>
          <p:nvPr/>
        </p:nvSpPr>
        <p:spPr>
          <a:xfrm>
            <a:off x="9485132" y="2194560"/>
            <a:ext cx="1893763" cy="1188720"/>
          </a:xfrm>
          <a:prstGeom prst="roundRect">
            <a:avLst>
              <a:gd name="adj" fmla="val 6154"/>
            </a:avLst>
          </a:prstGeom>
          <a:solidFill>
            <a:schemeClr val="bg2"/>
          </a:solidFill>
          <a:ln w="9525">
            <a:solidFill>
              <a:schemeClr val="accent5"/>
            </a:solidFill>
            <a:prstDash val="solid"/>
          </a:ln>
        </p:spPr>
      </p:sp>
      <p:sp>
        <p:nvSpPr>
          <p:cNvPr id="19" name="Step text 5"/>
          <p:cNvSpPr txBox="1"/>
          <p:nvPr/>
        </p:nvSpPr>
        <p:spPr>
          <a:xfrm>
            <a:off x="9594860" y="2286000"/>
            <a:ext cx="1674307" cy="1005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Output</a:t>
            </a:r>
            <a:endParaRPr lang="en-US" sz="1400" dirty="0"/>
          </a:p>
          <a:p>
            <a:pPr indent="0" marL="0">
              <a:buNone/>
            </a:pPr>
            <a:r>
              <a:rPr lang="en-US" sz="1200" dirty="0">
                <a:solidFill>
                  <a:schemeClr val="tx2"/>
                </a:solidFill>
              </a:rPr>
              <a:t>128 → 2: temperature and rain</a:t>
            </a:r>
            <a:endParaRPr lang="en-US" sz="1400" dirty="0"/>
          </a:p>
        </p:txBody>
      </p:sp>
      <p:sp>
        <p:nvSpPr>
          <p:cNvPr id="20" name="Card 1"/>
          <p:cNvSpPr/>
          <p:nvPr/>
        </p:nvSpPr>
        <p:spPr>
          <a:xfrm>
            <a:off x="812800" y="3566160"/>
            <a:ext cx="6248217" cy="1645920"/>
          </a:xfrm>
          <a:prstGeom prst="roundRect">
            <a:avLst>
              <a:gd name="adj" fmla="val 4444"/>
            </a:avLst>
          </a:prstGeom>
          <a:solidFill>
            <a:schemeClr val="accent3"/>
          </a:solidFill>
          <a:ln/>
        </p:spPr>
      </p:sp>
      <p:sp>
        <p:nvSpPr>
          <p:cNvPr id="21" name="Card text 1"/>
          <p:cNvSpPr txBox="1"/>
          <p:nvPr/>
        </p:nvSpPr>
        <p:spPr>
          <a:xfrm>
            <a:off x="977392" y="3703320"/>
            <a:ext cx="5919033" cy="13716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Processor layer with ENSO conditioning</a:t>
            </a:r>
            <a:endParaRPr lang="en-US" sz="1600" dirty="0"/>
          </a:p>
          <a:p>
            <a:pPr indent="0" marL="0">
              <a:spcAft>
                <a:spcPts val="400"/>
              </a:spcAft>
              <a:buNone/>
            </a:pPr>
            <a:r>
              <a:rPr lang="en-US" sz="1200" dirty="0">
                <a:solidFill>
                  <a:schemeClr val="tx2"/>
                </a:solidFill>
                <a:latin typeface="Courier New" pitchFamily="34" charset="0"/>
                <a:ea typeface="Courier New" pitchFamily="34" charset="-122"/>
                <a:cs typeface="Courier New" pitchFamily="34" charset="-120"/>
              </a:rPr>
              <a:t>h ← h + GELU(LN(SAGEConv(h + c)))</a:t>
            </a:r>
            <a:endParaRPr lang="en-US" sz="1600" dirty="0"/>
          </a:p>
          <a:p>
            <a:pPr indent="0" marL="0">
              <a:spcAft>
                <a:spcPts val="400"/>
              </a:spcAft>
              <a:buNone/>
            </a:pPr>
            <a:r>
              <a:rPr lang="en-US" sz="1400" dirty="0">
                <a:solidFill>
                  <a:schemeClr val="tx2"/>
                </a:solidFill>
              </a:rPr>
              <a:t>c = MLP(Niño 3.4), 1 → 128 → 128, added to the messages only</a:t>
            </a:r>
            <a:endParaRPr lang="en-US" sz="1600" dirty="0"/>
          </a:p>
        </p:txBody>
      </p:sp>
      <p:sp>
        <p:nvSpPr>
          <p:cNvPr id="22" name="Card 2"/>
          <p:cNvSpPr/>
          <p:nvPr/>
        </p:nvSpPr>
        <p:spPr>
          <a:xfrm>
            <a:off x="7213417" y="3566160"/>
            <a:ext cx="4165478" cy="1645920"/>
          </a:xfrm>
          <a:prstGeom prst="roundRect">
            <a:avLst>
              <a:gd name="adj" fmla="val 4444"/>
            </a:avLst>
          </a:prstGeom>
          <a:solidFill>
            <a:schemeClr val="accent3"/>
          </a:solidFill>
          <a:ln/>
        </p:spPr>
      </p:sp>
      <p:sp>
        <p:nvSpPr>
          <p:cNvPr id="23" name="Card text 2"/>
          <p:cNvSpPr txBox="1"/>
          <p:nvPr/>
        </p:nvSpPr>
        <p:spPr>
          <a:xfrm>
            <a:off x="7378009" y="3703320"/>
            <a:ext cx="3836294" cy="137160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Fast batching</a:t>
            </a:r>
            <a:endParaRPr lang="en-US" sz="1600" dirty="0"/>
          </a:p>
          <a:p>
            <a:pPr indent="0" marL="0">
              <a:spcAft>
                <a:spcPts val="400"/>
              </a:spcAft>
              <a:buNone/>
            </a:pPr>
            <a:r>
              <a:rPr lang="en-US" sz="1400" dirty="0">
                <a:solidFill>
                  <a:schemeClr val="tx2"/>
                </a:solidFill>
              </a:rPr>
              <a:t>Edge indices for a whole batch built by offset arithmetic, with no Python loops</a:t>
            </a:r>
            <a:endParaRPr lang="en-US" sz="1600" dirty="0"/>
          </a:p>
        </p:txBody>
      </p:sp>
      <p:sp>
        <p:nvSpPr>
          <p:cNvPr id="24" name="Takeaway box"/>
          <p:cNvSpPr/>
          <p:nvPr/>
        </p:nvSpPr>
        <p:spPr>
          <a:xfrm>
            <a:off x="812800" y="5376672"/>
            <a:ext cx="10566095" cy="713232"/>
          </a:xfrm>
          <a:prstGeom prst="roundRect">
            <a:avLst>
              <a:gd name="adj" fmla="val 10256"/>
            </a:avLst>
          </a:prstGeom>
          <a:solidFill>
            <a:schemeClr val="accent3"/>
          </a:solidFill>
          <a:ln/>
        </p:spPr>
      </p:sp>
      <p:sp>
        <p:nvSpPr>
          <p:cNvPr id="25"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26"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A GraphCast-style design at small scale (217k parameters); the conditioning term c is the one part the ablation shows adds nothing.</a:t>
            </a:r>
            <a:endParaRPr lang="en-US" sz="1400" dirty="0"/>
          </a:p>
        </p:txBody>
      </p:sp>
      <p:sp>
        <p:nvSpPr>
          <p:cNvPr id="27"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research paper §4.3 · AdamW, lr 10⁻³, weight decay 10⁻⁴</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WEATHER · TEST SKILL</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The weather model halves persistence error</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Error in 2 m temperature 6 hours ahead, weighted by area (cos latitude), over 438 test samples. The map shows the error at each grid point.</a:t>
            </a:r>
            <a:endParaRPr lang="en-US" sz="1400" dirty="0"/>
          </a:p>
        </p:txBody>
      </p:sp>
      <p:sp>
        <p:nvSpPr>
          <p:cNvPr id="6" name="Findings"/>
          <p:cNvSpPr txBox="1"/>
          <p:nvPr/>
        </p:nvSpPr>
        <p:spPr>
          <a:xfrm>
            <a:off x="812800" y="2194560"/>
            <a:ext cx="4749495" cy="301752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1.21 K</a:t>
            </a:r>
            <a:endParaRPr lang="en-US" sz="5400" dirty="0"/>
          </a:p>
          <a:p>
            <a:pPr indent="0" marL="0">
              <a:spcAft>
                <a:spcPts val="1200"/>
              </a:spcAft>
              <a:buNone/>
            </a:pPr>
            <a:r>
              <a:rPr lang="en-US" sz="1400" dirty="0">
                <a:solidFill>
                  <a:schemeClr val="tx2"/>
                </a:solidFill>
              </a:rPr>
              <a:t>Model RMSE</a:t>
            </a:r>
            <a:endParaRPr lang="en-US" sz="5400" dirty="0"/>
          </a:p>
          <a:p>
            <a:pPr indent="0" marL="0">
              <a:buNone/>
            </a:pPr>
            <a:r>
              <a:rPr lang="en-US" sz="3200" b="1" dirty="0">
                <a:solidFill>
                  <a:schemeClr val="accent4"/>
                </a:solidFill>
                <a:latin typeface="+mj-lt" pitchFamily="34" charset="0"/>
                <a:ea typeface="+mj-lt" pitchFamily="34" charset="-122"/>
                <a:cs typeface="+mj-lt" pitchFamily="34" charset="-120"/>
              </a:rPr>
              <a:t>2.46 K</a:t>
            </a:r>
            <a:endParaRPr lang="en-US" sz="5400" dirty="0"/>
          </a:p>
          <a:p>
            <a:pPr indent="0" marL="0">
              <a:spcAft>
                <a:spcPts val="1200"/>
              </a:spcAft>
              <a:buNone/>
            </a:pPr>
            <a:r>
              <a:rPr lang="en-US" sz="1400" dirty="0">
                <a:solidFill>
                  <a:schemeClr val="tx2"/>
                </a:solidFill>
              </a:rPr>
              <a:t>Persistence RMSE on the same samples</a:t>
            </a:r>
            <a:endParaRPr lang="en-US" sz="5400" dirty="0"/>
          </a:p>
          <a:p>
            <a:pPr indent="0" marL="0">
              <a:spcAft>
                <a:spcPts val="800"/>
              </a:spcAft>
              <a:buNone/>
            </a:pPr>
            <a:r>
              <a:rPr lang="en-US" sz="1400" dirty="0">
                <a:solidFill>
                  <a:schemeClr val="tx2"/>
                </a:solidFill>
              </a:rPr>
              <a:t>Tropics 0.84 K · poles 1.55 K · Precipitation error 24 % below persistence</a:t>
            </a:r>
            <a:endParaRPr lang="en-US" sz="5400" dirty="0"/>
          </a:p>
        </p:txBody>
      </p:sp>
      <p:pic>
        <p:nvPicPr>
          <p:cNvPr id="7" name="Screenshot 2" descr="Map of per-grid-node 2 m temperature RMSE across the test set, lowest in the tropics and highest at high latitudes">    </p:cNvPr>
          <p:cNvPicPr>
            <a:picLocks noChangeAspect="1"/>
          </p:cNvPicPr>
          <p:nvPr/>
        </p:nvPicPr>
        <p:blipFill>
          <a:blip r:embed="rId1"/>
          <a:stretch>
            <a:fillRect/>
          </a:stretch>
        </p:blipFill>
        <p:spPr>
          <a:xfrm>
            <a:off x="5917895" y="2245651"/>
            <a:ext cx="5461000" cy="2915337"/>
          </a:xfrm>
          <a:prstGeom prst="rect">
            <a:avLst/>
          </a:prstGeom>
        </p:spPr>
      </p:pic>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The model learns real 6-hour dynamics: its error is half that of persistence, lowest in the tropics and highest near the poles.</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summary_metrics.json · chart: per-grid-point RMSE map</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WEATHER · ABLATION</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ENSO conditioning does not help</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An ablation changes one thing in the main model, retrains it, and scores every variant on the same test samples. Shorter bars are better.</a:t>
            </a:r>
            <a:endParaRPr lang="en-US" sz="1400" dirty="0"/>
          </a:p>
        </p:txBody>
      </p:sp>
      <p:sp>
        <p:nvSpPr>
          <p:cNvPr id="6" name="Text 3"/>
          <p:cNvSpPr txBox="1"/>
          <p:nvPr/>
        </p:nvSpPr>
        <p:spPr>
          <a:xfrm>
            <a:off x="812800" y="2194560"/>
            <a:ext cx="10566095" cy="274320"/>
          </a:xfrm>
          <a:prstGeom prst="rect">
            <a:avLst/>
          </a:prstGeom>
          <a:noFill/>
          <a:ln/>
        </p:spPr>
        <p:txBody>
          <a:bodyPr wrap="square" lIns="0" tIns="0" rIns="0" bIns="0" rtlCol="0" anchor="ctr"/>
          <a:lstStyle/>
          <a:p>
            <a:pPr indent="0" marL="0">
              <a:buNone/>
            </a:pPr>
            <a:r>
              <a:rPr lang="en-US" sz="1200" dirty="0">
                <a:solidFill>
                  <a:schemeClr val="accent4"/>
                </a:solidFill>
              </a:rPr>
              <a:t>Test 2 m temperature RMSE (K), one training run per variant; gaps below about 0.05 K are within seed noise</a:t>
            </a:r>
            <a:endParaRPr lang="en-US" sz="1200" dirty="0"/>
          </a:p>
        </p:txBody>
      </p:sp>
      <p:graphicFrame>
        <p:nvGraphicFramePr>
          <p:cNvPr id="7" name="Chart 0" descr="Bar chart of test temperature RMSE by weather-model variant"/>
          <p:cNvGraphicFramePr/>
          <p:nvPr/>
        </p:nvGraphicFramePr>
        <p:xfrm>
          <a:off x="812800" y="2514600"/>
          <a:ext cx="10566095" cy="2697480"/>
        </p:xfrm>
        <a:graphic xmlns:a="http://schemas.openxmlformats.org/drawingml/2006/main">
          <a:graphicData uri="http://schemas.openxmlformats.org/drawingml/2006/chart">
            <c:chart xmlns:c="http://schemas.openxmlformats.org/drawingml/2006/chart" r:id="rId1"/>
          </a:graphicData>
        </a:graphic>
      </p:graphicFrame>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Niño 3.4 adds nothing at 6 hours, and feeding in TFT forecasts makes the model worse (+0.12 K); the area-weighted loss does not help either.</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nwm_ablation.csv · run 20261027_230426</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WARMING RATE · GISTEMP 1950–2025</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Warming accelerated in the mid-1970s</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A trend of joined straight segments is fitted to 76 annual global means; BIC decides how many breaks the data justify.</a:t>
            </a:r>
            <a:endParaRPr lang="en-US" sz="1400" dirty="0"/>
          </a:p>
        </p:txBody>
      </p:sp>
      <p:pic>
        <p:nvPicPr>
          <p:cNvPr id="6" name="Screenshot 1" descr="GISTEMP global temperature anomalies with annual means and a piecewise-linear trend breaking in 1976">    </p:cNvPr>
          <p:cNvPicPr>
            <a:picLocks noChangeAspect="1"/>
          </p:cNvPicPr>
          <p:nvPr/>
        </p:nvPicPr>
        <p:blipFill>
          <a:blip r:embed="rId1"/>
          <a:stretch>
            <a:fillRect/>
          </a:stretch>
        </p:blipFill>
        <p:spPr>
          <a:xfrm>
            <a:off x="812800" y="2194560"/>
            <a:ext cx="5172891" cy="3017520"/>
          </a:xfrm>
          <a:prstGeom prst="rect">
            <a:avLst/>
          </a:prstGeom>
        </p:spPr>
      </p:pic>
      <p:sp>
        <p:nvSpPr>
          <p:cNvPr id="7" name="Findings"/>
          <p:cNvSpPr txBox="1"/>
          <p:nvPr/>
        </p:nvSpPr>
        <p:spPr>
          <a:xfrm>
            <a:off x="6341291" y="2194560"/>
            <a:ext cx="5037604" cy="301752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1976</a:t>
            </a:r>
            <a:endParaRPr lang="en-US" sz="5400" dirty="0"/>
          </a:p>
          <a:p>
            <a:pPr indent="0" marL="0">
              <a:spcAft>
                <a:spcPts val="1200"/>
              </a:spcAft>
              <a:buNone/>
            </a:pPr>
            <a:r>
              <a:rPr lang="en-US" sz="1400" dirty="0">
                <a:solidFill>
                  <a:schemeClr val="tx2"/>
                </a:solidFill>
              </a:rPr>
              <a:t>One change-point selected</a:t>
            </a:r>
            <a:endParaRPr lang="en-US" sz="5400" dirty="0"/>
          </a:p>
          <a:p>
            <a:pPr indent="0" marL="0">
              <a:spcAft>
                <a:spcPts val="800"/>
              </a:spcAft>
              <a:buNone/>
            </a:pPr>
            <a:r>
              <a:rPr lang="en-US" sz="1400" b="1" dirty="0">
                <a:solidFill>
                  <a:schemeClr val="tx1"/>
                </a:solidFill>
              </a:rPr>
              <a:t>0.035 → 0.211 °C per decade</a:t>
            </a:r>
            <a:endParaRPr lang="en-US" sz="5400" dirty="0"/>
          </a:p>
          <a:p>
            <a:pPr indent="0" marL="0">
              <a:spcAft>
                <a:spcPts val="800"/>
              </a:spcAft>
              <a:buNone/>
            </a:pPr>
            <a:r>
              <a:rPr lang="en-US" sz="1400" dirty="0">
                <a:solidFill>
                  <a:schemeClr val="tx2"/>
                </a:solidFill>
              </a:rPr>
              <a:t>Break years 1970–1986 fit almost as well (ΔBIC &lt; 2)</a:t>
            </a:r>
            <a:endParaRPr lang="en-US" sz="5400" dirty="0"/>
          </a:p>
          <a:p>
            <a:pPr indent="0" marL="0">
              <a:spcAft>
                <a:spcPts val="800"/>
              </a:spcAft>
              <a:buNone/>
            </a:pPr>
            <a:r>
              <a:rPr lang="en-US" sz="1400" dirty="0">
                <a:solidFill>
                  <a:schemeClr val="tx2"/>
                </a:solidFill>
              </a:rPr>
              <a:t>A second break in 2012 is nearly tied (ΔBIC 0.4)</a:t>
            </a:r>
            <a:endParaRPr lang="en-US" sz="5400" dirty="0"/>
          </a:p>
        </p:txBody>
      </p:sp>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Warming sped up about six-fold in the mid-1970s; a further acceleration after 2012 is possible but not yet established.</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climate_feedback_results.json · chart: GISTEMP with fitted trend</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TRAINING LOGS · EL NIÑO AND POLLUTION</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What the training run recorded</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Verbatim lines from the main run on 27 October 2026; only the logger prefix (level and module) is trimmed.</a:t>
            </a:r>
            <a:endParaRPr lang="en-US" sz="1400" dirty="0"/>
          </a:p>
        </p:txBody>
      </p:sp>
      <p:sp>
        <p:nvSpPr>
          <p:cNvPr id="6" name="Code block 1"/>
          <p:cNvSpPr/>
          <p:nvPr/>
        </p:nvSpPr>
        <p:spPr>
          <a:xfrm>
            <a:off x="812800" y="2194560"/>
            <a:ext cx="10566095" cy="3017520"/>
          </a:xfrm>
          <a:prstGeom prst="roundRect">
            <a:avLst>
              <a:gd name="adj" fmla="val 2424"/>
            </a:avLst>
          </a:prstGeom>
          <a:solidFill>
            <a:schemeClr val="tx1"/>
          </a:solidFill>
          <a:ln/>
        </p:spPr>
      </p:sp>
      <p:sp>
        <p:nvSpPr>
          <p:cNvPr id="7" name="Code 1"/>
          <p:cNvSpPr txBox="1"/>
          <p:nvPr/>
        </p:nvSpPr>
        <p:spPr>
          <a:xfrm>
            <a:off x="995680" y="2304288"/>
            <a:ext cx="10200335" cy="2798064"/>
          </a:xfrm>
          <a:prstGeom prst="rect">
            <a:avLst/>
          </a:prstGeom>
          <a:noFill/>
          <a:ln/>
        </p:spPr>
        <p:txBody>
          <a:bodyPr wrap="square" lIns="0" tIns="0" rIns="0" bIns="0" rtlCol="0" anchor="t"/>
          <a:lstStyle/>
          <a:p>
            <a:pPr indent="0" marL="0">
              <a:buNone/>
            </a:pPr>
            <a:r>
              <a:rPr lang="en-US" sz="1200" i="1" dirty="0">
                <a:solidFill>
                  <a:srgbClr val="9CA3AF"/>
                </a:solidFill>
                <a:latin typeface="Courier New" pitchFamily="34" charset="0"/>
                <a:ea typeface="Courier New" pitchFamily="34" charset="-122"/>
                <a:cs typeface="Courier New" pitchFamily="34" charset="-120"/>
              </a:rPr>
              <a:t># El Niño main run · runtime/logs/run.log</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14:31:54</a:t>
            </a:r>
            <a:pPr indent="0" marL="0">
              <a:buNone/>
            </a:pPr>
            <a:r>
              <a:rPr lang="en-US" sz="1200" dirty="0">
                <a:solidFill>
                  <a:schemeClr val="bg2"/>
                </a:solidFill>
                <a:latin typeface="Courier New" pitchFamily="34" charset="0"/>
                <a:ea typeface="Courier New" pitchFamily="34" charset="-122"/>
                <a:cs typeface="Courier New" pitchFamily="34" charset="-120"/>
              </a:rPr>
              <a:t> Prepared TFT DataFrame: 921 timesteps, 15 features</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14:31:57</a:t>
            </a:r>
            <a:pPr indent="0" marL="0">
              <a:buNone/>
            </a:pPr>
            <a:r>
              <a:rPr lang="en-US" sz="1200" dirty="0">
                <a:solidFill>
                  <a:schemeClr val="bg2"/>
                </a:solidFill>
                <a:latin typeface="Courier New" pitchFamily="34" charset="0"/>
                <a:ea typeface="Courier New" pitchFamily="34" charset="-122"/>
                <a:cs typeface="Courier New" pitchFamily="34" charset="-120"/>
              </a:rPr>
              <a:t> Split: train=644 months, val=138 months, test=139 months; windows train=573, val=127, test=128</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14:31:57</a:t>
            </a:r>
            <a:pPr indent="0" marL="0">
              <a:buNone/>
            </a:pPr>
            <a:r>
              <a:rPr lang="en-US" sz="1200" dirty="0">
                <a:solidFill>
                  <a:schemeClr val="bg2"/>
                </a:solidFill>
                <a:latin typeface="Courier New" pitchFamily="34" charset="0"/>
                <a:ea typeface="Courier New" pitchFamily="34" charset="-122"/>
                <a:cs typeface="Courier New" pitchFamily="34" charset="-120"/>
              </a:rPr>
              <a:t> Created TFT model: 96,047 parameters</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14:31:57</a:t>
            </a:r>
            <a:pPr indent="0" marL="0">
              <a:buNone/>
            </a:pPr>
            <a:r>
              <a:rPr lang="en-US" sz="1200" dirty="0">
                <a:solidFill>
                  <a:schemeClr val="bg2"/>
                </a:solidFill>
                <a:latin typeface="Courier New" pitchFamily="34" charset="0"/>
                <a:ea typeface="Courier New" pitchFamily="34" charset="-122"/>
                <a:cs typeface="Courier New" pitchFamily="34" charset="-120"/>
              </a:rPr>
              <a:t> Training TFT: 100 epochs, batch_size=32</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14:32:50</a:t>
            </a:r>
            <a:pPr indent="0" marL="0">
              <a:buNone/>
            </a:pPr>
            <a:r>
              <a:rPr lang="en-US" sz="1200" dirty="0">
                <a:solidFill>
                  <a:schemeClr val="bg2"/>
                </a:solidFill>
                <a:latin typeface="Courier New" pitchFamily="34" charset="0"/>
                <a:ea typeface="Courier New" pitchFamily="34" charset="-122"/>
                <a:cs typeface="Courier New" pitchFamily="34" charset="-120"/>
              </a:rPr>
              <a:t> TFT training complete. Best val_loss=0.287493</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14:32:52</a:t>
            </a:r>
            <a:pPr indent="0" marL="0">
              <a:buNone/>
            </a:pPr>
            <a:r>
              <a:rPr lang="en-US" sz="1200" dirty="0">
                <a:solidFill>
                  <a:schemeClr val="bg2"/>
                </a:solidFill>
                <a:latin typeface="Courier New" pitchFamily="34" charset="0"/>
                <a:ea typeface="Courier New" pitchFamily="34" charset="-122"/>
                <a:cs typeface="Courier New" pitchFamily="34" charset="-120"/>
              </a:rPr>
              <a:t> Created LSTM model: 142,668 params, hidden=64, layers=2, bidirectional=True</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14:33:03</a:t>
            </a:r>
            <a:pPr indent="0" marL="0">
              <a:buNone/>
            </a:pPr>
            <a:r>
              <a:rPr lang="en-US" sz="1200" dirty="0">
                <a:solidFill>
                  <a:schemeClr val="bg2"/>
                </a:solidFill>
                <a:latin typeface="Courier New" pitchFamily="34" charset="0"/>
                <a:ea typeface="Courier New" pitchFamily="34" charset="-122"/>
                <a:cs typeface="Courier New" pitchFamily="34" charset="-120"/>
              </a:rPr>
              <a:t> Early stopping at epoch 21</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14:33:03</a:t>
            </a:r>
            <a:pPr indent="0" marL="0">
              <a:buNone/>
            </a:pPr>
            <a:r>
              <a:rPr lang="en-US" sz="1200" dirty="0">
                <a:solidFill>
                  <a:schemeClr val="bg2"/>
                </a:solidFill>
                <a:latin typeface="Courier New" pitchFamily="34" charset="0"/>
                <a:ea typeface="Courier New" pitchFamily="34" charset="-122"/>
                <a:cs typeface="Courier New" pitchFamily="34" charset="-120"/>
              </a:rPr>
              <a:t> LSTM training complete. Best val_loss=0.337486</a:t>
            </a:r>
            <a:endParaRPr lang="en-US" sz="1200" dirty="0"/>
          </a:p>
          <a:p>
            <a:pPr indent="0" marL="0">
              <a:buNone/>
            </a:pPr>
            <a:r>
              <a:rPr lang="en-US" sz="1200" i="1" dirty="0">
                <a:solidFill>
                  <a:srgbClr val="9CA3AF"/>
                </a:solidFill>
                <a:latin typeface="Courier New" pitchFamily="34" charset="0"/>
                <a:ea typeface="Courier New" pitchFamily="34" charset="-122"/>
                <a:cs typeface="Courier New" pitchFamily="34" charset="-120"/>
              </a:rPr>
              <a:t># Pollution A3TGCN · same log</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14:33:17</a:t>
            </a:r>
            <a:pPr indent="0" marL="0">
              <a:buNone/>
            </a:pPr>
            <a:r>
              <a:rPr lang="en-US" sz="1200" dirty="0">
                <a:solidFill>
                  <a:schemeClr val="bg2"/>
                </a:solidFill>
                <a:latin typeface="Courier New" pitchFamily="34" charset="0"/>
                <a:ea typeface="Courier New" pitchFamily="34" charset="-122"/>
                <a:cs typeface="Courier New" pitchFamily="34" charset="-120"/>
              </a:rPr>
              <a:t> Created PollutionSTGNN: 6,984 params, hidden=32, periods=7</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14:33:17</a:t>
            </a:r>
            <a:pPr indent="0" marL="0">
              <a:buNone/>
            </a:pPr>
            <a:r>
              <a:rPr lang="en-US" sz="1200" dirty="0">
                <a:solidFill>
                  <a:schemeClr val="bg2"/>
                </a:solidFill>
                <a:latin typeface="Courier New" pitchFamily="34" charset="0"/>
                <a:ea typeface="Courier New" pitchFamily="34" charset="-122"/>
                <a:cs typeface="Courier New" pitchFamily="34" charset="-120"/>
              </a:rPr>
              <a:t> Training PollutionSTGNN: 100 epochs, lr=0.001, device=cpu, params=6,984</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14:33:20</a:t>
            </a:r>
            <a:pPr indent="0" marL="0">
              <a:buNone/>
            </a:pPr>
            <a:r>
              <a:rPr lang="en-US" sz="1200" dirty="0">
                <a:solidFill>
                  <a:schemeClr val="bg2"/>
                </a:solidFill>
                <a:latin typeface="Courier New" pitchFamily="34" charset="0"/>
                <a:ea typeface="Courier New" pitchFamily="34" charset="-122"/>
                <a:cs typeface="Courier New" pitchFamily="34" charset="-120"/>
              </a:rPr>
              <a:t> Epoch 1/100: train=1.741392, val=0.380588</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14:37:44</a:t>
            </a:r>
            <a:pPr indent="0" marL="0">
              <a:buNone/>
            </a:pPr>
            <a:r>
              <a:rPr lang="en-US" sz="1200" dirty="0">
                <a:solidFill>
                  <a:schemeClr val="bg2"/>
                </a:solidFill>
                <a:latin typeface="Courier New" pitchFamily="34" charset="0"/>
                <a:ea typeface="Courier New" pitchFamily="34" charset="-122"/>
                <a:cs typeface="Courier New" pitchFamily="34" charset="-120"/>
              </a:rPr>
              <a:t> Epoch 100/100: train=0.968618, val=0.301509</a:t>
            </a:r>
            <a:endParaRPr lang="en-US" sz="1200" dirty="0"/>
          </a:p>
        </p:txBody>
      </p:sp>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The log shows each model built, trained and stopped, with the parameter counts and data splits reported in the paper.</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runtime/logs/run.log, lines from 2026-10-27 14:31–14:37</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TRAINING LOGS · WEATHER MODEL</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Two hours on CPU, then early stopping</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Verbatim lines from the main weather run, one ablation run and the evaluation step; logger prefix trimmed.</a:t>
            </a:r>
            <a:endParaRPr lang="en-US" sz="1400" dirty="0"/>
          </a:p>
        </p:txBody>
      </p:sp>
      <p:sp>
        <p:nvSpPr>
          <p:cNvPr id="6" name="Code block 1"/>
          <p:cNvSpPr/>
          <p:nvPr/>
        </p:nvSpPr>
        <p:spPr>
          <a:xfrm>
            <a:off x="812800" y="2194560"/>
            <a:ext cx="10566095" cy="3017520"/>
          </a:xfrm>
          <a:prstGeom prst="roundRect">
            <a:avLst>
              <a:gd name="adj" fmla="val 2424"/>
            </a:avLst>
          </a:prstGeom>
          <a:solidFill>
            <a:schemeClr val="tx1"/>
          </a:solidFill>
          <a:ln/>
        </p:spPr>
      </p:sp>
      <p:sp>
        <p:nvSpPr>
          <p:cNvPr id="7" name="Code 1"/>
          <p:cNvSpPr txBox="1"/>
          <p:nvPr/>
        </p:nvSpPr>
        <p:spPr>
          <a:xfrm>
            <a:off x="995680" y="2304288"/>
            <a:ext cx="10200335" cy="2798064"/>
          </a:xfrm>
          <a:prstGeom prst="rect">
            <a:avLst/>
          </a:prstGeom>
          <a:noFill/>
          <a:ln/>
        </p:spPr>
        <p:txBody>
          <a:bodyPr wrap="square" lIns="0" tIns="0" rIns="0" bIns="0" rtlCol="0" anchor="t"/>
          <a:lstStyle/>
          <a:p>
            <a:pPr indent="0" marL="0">
              <a:buNone/>
            </a:pPr>
            <a:r>
              <a:rPr lang="en-US" sz="1200" i="1" dirty="0">
                <a:solidFill>
                  <a:srgbClr val="9CA3AF"/>
                </a:solidFill>
                <a:latin typeface="Courier New" pitchFamily="34" charset="0"/>
                <a:ea typeface="Courier New" pitchFamily="34" charset="-122"/>
                <a:cs typeface="Courier New" pitchFamily="34" charset="-120"/>
              </a:rPr>
              <a:t># Main weather model · runtime/logs/run.log</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14:37:52</a:t>
            </a:r>
            <a:pPr indent="0" marL="0">
              <a:buNone/>
            </a:pPr>
            <a:r>
              <a:rPr lang="en-US" sz="1200" dirty="0">
                <a:solidFill>
                  <a:schemeClr val="bg2"/>
                </a:solidFill>
                <a:latin typeface="Courier New" pitchFamily="34" charset="0"/>
                <a:ea typeface="Courier New" pitchFamily="34" charset="-122"/>
                <a:cs typeface="Courier New" pitchFamily="34" charset="-120"/>
              </a:rPr>
              <a:t> NWM conditioning=observed (nino_features.parquet), area_weighted_loss=True</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14:37:53</a:t>
            </a:r>
            <a:pPr indent="0" marL="0">
              <a:buNone/>
            </a:pPr>
            <a:r>
              <a:rPr lang="en-US" sz="1200" dirty="0">
                <a:solidFill>
                  <a:schemeClr val="bg2"/>
                </a:solidFill>
                <a:latin typeface="Courier New" pitchFamily="34" charset="0"/>
                <a:ea typeface="Courier New" pitchFamily="34" charset="-122"/>
                <a:cs typeface="Courier New" pitchFamily="34" charset="-120"/>
              </a:rPr>
              <a:t> Training NWM ST-GNN: 100 epochs, device=cpu, lr=0.001, wd=0.0001</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14:39:11</a:t>
            </a:r>
            <a:pPr indent="0" marL="0">
              <a:buNone/>
            </a:pPr>
            <a:r>
              <a:rPr lang="en-US" sz="1200" dirty="0">
                <a:solidFill>
                  <a:schemeClr val="bg2"/>
                </a:solidFill>
                <a:latin typeface="Courier New" pitchFamily="34" charset="0"/>
                <a:ea typeface="Courier New" pitchFamily="34" charset="-122"/>
                <a:cs typeface="Courier New" pitchFamily="34" charset="-120"/>
              </a:rPr>
              <a:t> Epoch 1/100: train_loss=0.286078, val_loss=0.193916, val_rmse=0.440358</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16:32:23</a:t>
            </a:r>
            <a:pPr indent="0" marL="0">
              <a:buNone/>
            </a:pPr>
            <a:r>
              <a:rPr lang="en-US" sz="1200" dirty="0">
                <a:solidFill>
                  <a:schemeClr val="bg2"/>
                </a:solidFill>
                <a:latin typeface="Courier New" pitchFamily="34" charset="0"/>
                <a:ea typeface="Courier New" pitchFamily="34" charset="-122"/>
                <a:cs typeface="Courier New" pitchFamily="34" charset="-120"/>
              </a:rPr>
              <a:t> Epoch 80/100: train_loss=0.107055, val_loss=0.117450, val_rmse=0.342710</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16:33:47</a:t>
            </a:r>
            <a:pPr indent="0" marL="0">
              <a:buNone/>
            </a:pPr>
            <a:r>
              <a:rPr lang="en-US" sz="1200" dirty="0">
                <a:solidFill>
                  <a:schemeClr val="bg2"/>
                </a:solidFill>
                <a:latin typeface="Courier New" pitchFamily="34" charset="0"/>
                <a:ea typeface="Courier New" pitchFamily="34" charset="-122"/>
                <a:cs typeface="Courier New" pitchFamily="34" charset="-120"/>
              </a:rPr>
              <a:t> Early stopping triggered at epoch 81.</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16:33:47</a:t>
            </a:r>
            <a:pPr indent="0" marL="0">
              <a:buNone/>
            </a:pPr>
            <a:r>
              <a:rPr lang="en-US" sz="1200" dirty="0">
                <a:solidFill>
                  <a:schemeClr val="bg2"/>
                </a:solidFill>
                <a:latin typeface="Courier New" pitchFamily="34" charset="0"/>
                <a:ea typeface="Courier New" pitchFamily="34" charset="-122"/>
                <a:cs typeface="Courier New" pitchFamily="34" charset="-120"/>
              </a:rPr>
              <a:t> NWM training complete. Best val_loss=0.117334</a:t>
            </a:r>
            <a:endParaRPr lang="en-US" sz="1200" dirty="0"/>
          </a:p>
          <a:p>
            <a:pPr indent="0" marL="0">
              <a:buNone/>
            </a:pPr>
            <a:r>
              <a:rPr lang="en-US" sz="1200" i="1" dirty="0">
                <a:solidFill>
                  <a:srgbClr val="9CA3AF"/>
                </a:solidFill>
                <a:latin typeface="Courier New" pitchFamily="34" charset="0"/>
                <a:ea typeface="Courier New" pitchFamily="34" charset="-122"/>
                <a:cs typeface="Courier New" pitchFamily="34" charset="-120"/>
              </a:rPr>
              <a:t># Ablation · nwm_ablation/forecast/train_nwm_forecast.log</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16:53:06</a:t>
            </a:r>
            <a:pPr indent="0" marL="0">
              <a:buNone/>
            </a:pPr>
            <a:r>
              <a:rPr lang="en-US" sz="1200" dirty="0">
                <a:solidFill>
                  <a:schemeClr val="bg2"/>
                </a:solidFill>
                <a:latin typeface="Courier New" pitchFamily="34" charset="0"/>
                <a:ea typeface="Courier New" pitchFamily="34" charset="-122"/>
                <a:cs typeface="Courier New" pitchFamily="34" charset="-120"/>
              </a:rPr>
              <a:t> NWM conditioning=forecast (nino34_tft_lead1.parquet), area_weighted_loss=True</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22:06:03</a:t>
            </a:r>
            <a:pPr indent="0" marL="0">
              <a:buNone/>
            </a:pPr>
            <a:r>
              <a:rPr lang="en-US" sz="1200" dirty="0">
                <a:solidFill>
                  <a:schemeClr val="bg2"/>
                </a:solidFill>
                <a:latin typeface="Courier New" pitchFamily="34" charset="0"/>
                <a:ea typeface="Courier New" pitchFamily="34" charset="-122"/>
                <a:cs typeface="Courier New" pitchFamily="34" charset="-120"/>
              </a:rPr>
              <a:t> Early stopping triggered at epoch 85.</a:t>
            </a:r>
            <a:endParaRPr lang="en-US" sz="1200" dirty="0"/>
          </a:p>
          <a:p>
            <a:pPr indent="0" marL="0">
              <a:buNone/>
            </a:pPr>
            <a:r>
              <a:rPr lang="en-US" sz="1200" i="1" dirty="0">
                <a:solidFill>
                  <a:srgbClr val="9CA3AF"/>
                </a:solidFill>
                <a:latin typeface="Courier New" pitchFamily="34" charset="0"/>
                <a:ea typeface="Courier New" pitchFamily="34" charset="-122"/>
                <a:cs typeface="Courier New" pitchFamily="34" charset="-120"/>
              </a:rPr>
              <a:t># Evaluation · make gen-eval-artifacts</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23:04:07</a:t>
            </a:r>
            <a:pPr indent="0" marL="0">
              <a:buNone/>
            </a:pPr>
            <a:r>
              <a:rPr lang="en-US" sz="1200" dirty="0">
                <a:solidFill>
                  <a:schemeClr val="bg2"/>
                </a:solidFill>
                <a:latin typeface="Courier New" pitchFamily="34" charset="0"/>
                <a:ea typeface="Courier New" pitchFamily="34" charset="-122"/>
                <a:cs typeface="Courier New" pitchFamily="34" charset="-120"/>
              </a:rPr>
              <a:t> NWM test (observed): T2m RMSE 1.214 K (persistence 2.457 K), precip RMSE 6.821e-04 (persistence 9.032e-04)</a:t>
            </a:r>
            <a:endParaRPr lang="en-US" sz="1200" dirty="0"/>
          </a:p>
        </p:txBody>
      </p:sp>
      <p:sp>
        <p:nvSpPr>
          <p:cNvPr id="8" name="Takeaway box"/>
          <p:cNvSpPr/>
          <p:nvPr/>
        </p:nvSpPr>
        <p:spPr>
          <a:xfrm>
            <a:off x="812800" y="5376672"/>
            <a:ext cx="10566095" cy="713232"/>
          </a:xfrm>
          <a:prstGeom prst="roundRect">
            <a:avLst>
              <a:gd name="adj" fmla="val 10256"/>
            </a:avLst>
          </a:prstGeom>
          <a:solidFill>
            <a:schemeClr val="accent3"/>
          </a:solidFill>
          <a:ln/>
        </p:spPr>
      </p:sp>
      <p:sp>
        <p:nvSpPr>
          <p:cNvPr id="9"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0"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Training ran to early stopping on CPU, and the logged test RMSE is exactly the 1.214 K reported.</a:t>
            </a:r>
            <a:endParaRPr lang="en-US" sz="1400" dirty="0"/>
          </a:p>
        </p:txBody>
      </p:sp>
      <p:sp>
        <p:nvSpPr>
          <p:cNvPr id="11"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runtime/logs/run.log and the ablation logs, 2026-10-27</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PATENT APPLICATION</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What the application claims</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The draft application has 15 claims covering the spherical-mesh weather model, a fast graph-batching method and the four-module system.</a:t>
            </a:r>
            <a:endParaRPr lang="en-US" sz="1400" dirty="0"/>
          </a:p>
        </p:txBody>
      </p:sp>
      <p:graphicFrame>
        <p:nvGraphicFramePr>
          <p:cNvPr id="29" name="Claims table"/>
          <p:cNvGraphicFramePr>
            <a:graphicFrameLocks noGrp="1"/>
          </p:cNvGraphicFramePr>
          <p:nvPr>
            <p:extLst>
              <p:ext uri="{D42A27DB-BD31-4B8C-83A1-F6EECF244321}">
                <p14:modId xmlns:p14="http://schemas.microsoft.com/office/powerpoint/2010/main" val="1579011935"/>
              </p:ext>
            </p:extLst>
          </p:nvPr>
        </p:nvGraphicFramePr>
        <p:xfrm>
          <a:off x="812800" y="2194560"/>
          <a:ext cx="6128335" cy="914400"/>
        </p:xfrm>
        <a:graphic>
          <a:graphicData uri="http://schemas.openxmlformats.org/drawingml/2006/table">
            <a:tbl>
              <a:tblPr/>
              <a:tblGrid>
                <a:gridCol w="1554480"/>
                <a:gridCol w="4573855"/>
              </a:tblGrid>
              <a:tr h="0">
                <a:tc>
                  <a:txBody>
                    <a:bodyPr/>
                    <a:lstStyle/>
                    <a:p>
                      <a:pPr indent="0" marL="0">
                        <a:buNone/>
                      </a:pPr>
                      <a:r>
                        <a:rPr lang="en-US" sz="1400" b="1" dirty="0">
                          <a:solidFill>
                            <a:srgbClr val="1F2937"/>
                          </a:solidFill>
                        </a:rPr>
                        <a:t>Claims 1–7</a:t>
                      </a:r>
                      <a:endParaRPr lang="en-US" sz="1400" dirty="0"/>
                    </a:p>
                  </a:txBody>
                  <a:tcPr marL="91440" marR="91440" marT="128016" marB="128016" anchor="t">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4B5563"/>
                          </a:solidFill>
                        </a:rPr>
                        <a:t>Fibonacci-mesh weather model with ENSO conditioning</a:t>
                      </a:r>
                      <a:endParaRPr lang="en-US" sz="1400" dirty="0"/>
                    </a:p>
                  </a:txBody>
                  <a:tcPr marL="91440" marR="91440" marT="128016" marB="128016" anchor="t">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0">
                <a:tc>
                  <a:txBody>
                    <a:bodyPr/>
                    <a:lstStyle/>
                    <a:p>
                      <a:pPr indent="0" marL="0">
                        <a:buNone/>
                      </a:pPr>
                      <a:r>
                        <a:rPr lang="en-US" sz="1400" b="1" dirty="0">
                          <a:solidFill>
                            <a:srgbClr val="1F2937"/>
                          </a:solidFill>
                        </a:rPr>
                        <a:t>Claims 8–9</a:t>
                      </a:r>
                      <a:endParaRPr lang="en-US" sz="1400" dirty="0"/>
                    </a:p>
                  </a:txBody>
                  <a:tcPr marL="91440" marR="91440" marT="128016" marB="128016" anchor="t">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4B5563"/>
                          </a:solidFill>
                        </a:rPr>
                        <a:t>Loop-free batching of graph edge indices</a:t>
                      </a:r>
                      <a:endParaRPr lang="en-US" sz="1400" dirty="0"/>
                    </a:p>
                  </a:txBody>
                  <a:tcPr marL="91440" marR="91440" marT="128016" marB="128016" anchor="t">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0">
                <a:tc>
                  <a:txBody>
                    <a:bodyPr/>
                    <a:lstStyle/>
                    <a:p>
                      <a:pPr indent="0" marL="0">
                        <a:buNone/>
                      </a:pPr>
                      <a:r>
                        <a:rPr lang="en-US" sz="1400" b="1" dirty="0">
                          <a:solidFill>
                            <a:srgbClr val="1F2937"/>
                          </a:solidFill>
                        </a:rPr>
                        <a:t>Claims 10–13</a:t>
                      </a:r>
                      <a:endParaRPr lang="en-US" sz="1400" dirty="0"/>
                    </a:p>
                  </a:txBody>
                  <a:tcPr marL="91440" marR="91440" marT="128016" marB="128016" anchor="t">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4B5563"/>
                          </a:solidFill>
                        </a:rPr>
                        <a:t>Four-module system, TFT forecasts driving the weather model</a:t>
                      </a:r>
                      <a:endParaRPr lang="en-US" sz="1400" dirty="0"/>
                    </a:p>
                  </a:txBody>
                  <a:tcPr marL="91440" marR="91440" marT="128016" marB="128016" anchor="t">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0">
                <a:tc>
                  <a:txBody>
                    <a:bodyPr/>
                    <a:lstStyle/>
                    <a:p>
                      <a:pPr indent="0" marL="0">
                        <a:buNone/>
                      </a:pPr>
                      <a:r>
                        <a:rPr lang="en-US" sz="1400" b="1" dirty="0">
                          <a:solidFill>
                            <a:srgbClr val="1F2937"/>
                          </a:solidFill>
                        </a:rPr>
                        <a:t>Claims 14–15</a:t>
                      </a:r>
                      <a:endParaRPr lang="en-US" sz="1400" dirty="0"/>
                    </a:p>
                  </a:txBody>
                  <a:tcPr marL="91440" marR="91440" marT="128016" marB="128016" anchor="t">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4B5563"/>
                          </a:solidFill>
                        </a:rPr>
                        <a:t>Matching method and storage-medium claims</a:t>
                      </a:r>
                      <a:endParaRPr lang="en-US" sz="1400" dirty="0"/>
                    </a:p>
                  </a:txBody>
                  <a:tcPr marL="91440" marR="91440" marT="128016" marB="128016" anchor="t">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7" name="Status card"/>
          <p:cNvSpPr/>
          <p:nvPr/>
        </p:nvSpPr>
        <p:spPr>
          <a:xfrm>
            <a:off x="7296735" y="2194560"/>
            <a:ext cx="4082160" cy="2377440"/>
          </a:xfrm>
          <a:prstGeom prst="roundRect">
            <a:avLst>
              <a:gd name="adj" fmla="val 3077"/>
            </a:avLst>
          </a:prstGeom>
          <a:solidFill>
            <a:schemeClr val="bg1"/>
          </a:solidFill>
          <a:ln w="9525">
            <a:solidFill>
              <a:schemeClr val="accent5"/>
            </a:solidFill>
            <a:prstDash val="solid"/>
          </a:ln>
        </p:spPr>
      </p:sp>
      <p:sp>
        <p:nvSpPr>
          <p:cNvPr id="8" name="Status text"/>
          <p:cNvSpPr txBox="1"/>
          <p:nvPr/>
        </p:nvSpPr>
        <p:spPr>
          <a:xfrm>
            <a:off x="7479615" y="2359152"/>
            <a:ext cx="3716400" cy="210312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Status</a:t>
            </a:r>
            <a:endParaRPr lang="en-US" sz="1600" dirty="0"/>
          </a:p>
          <a:p>
            <a:pPr marL="342900" indent="-342900">
              <a:spcAft>
                <a:spcPts val="600"/>
              </a:spcAft>
              <a:buSzPct val="100000"/>
              <a:buChar char="•"/>
            </a:pPr>
            <a:r>
              <a:rPr lang="en-US" sz="1400" dirty="0">
                <a:solidFill>
                  <a:schemeClr val="tx2"/>
                </a:solidFill>
              </a:rPr>
              <a:t>Draft; inventor names still to be completed</a:t>
            </a:r>
            <a:endParaRPr lang="en-US" sz="1600" dirty="0"/>
          </a:p>
          <a:p>
            <a:pPr marL="342900" indent="-342900">
              <a:spcAft>
                <a:spcPts val="600"/>
              </a:spcAft>
              <a:buSzPct val="100000"/>
              <a:buChar char="•"/>
            </a:pPr>
            <a:r>
              <a:rPr lang="en-US" sz="1400" dirty="0">
                <a:solidFill>
                  <a:schemeClr val="tx2"/>
                </a:solidFill>
              </a:rPr>
              <a:t>Section 7 now discloses the ablation results</a:t>
            </a:r>
            <a:endParaRPr lang="en-US" sz="1600" dirty="0"/>
          </a:p>
          <a:p>
            <a:pPr marL="342900" indent="-342900">
              <a:spcAft>
                <a:spcPts val="600"/>
              </a:spcAft>
              <a:buSzPct val="100000"/>
              <a:buChar char="•"/>
            </a:pPr>
            <a:r>
              <a:rPr lang="en-US" sz="1400" dirty="0">
                <a:solidFill>
                  <a:schemeClr val="tx2"/>
                </a:solidFill>
              </a:rPr>
              <a:t>Revised claim wording drafted for the patent agent</a:t>
            </a:r>
            <a:endParaRPr lang="en-US" sz="1600" dirty="0"/>
          </a:p>
        </p:txBody>
      </p:sp>
      <p:sp>
        <p:nvSpPr>
          <p:cNvPr id="9" name="Takeaway box"/>
          <p:cNvSpPr/>
          <p:nvPr/>
        </p:nvSpPr>
        <p:spPr>
          <a:xfrm>
            <a:off x="812800" y="5376672"/>
            <a:ext cx="10566095" cy="713232"/>
          </a:xfrm>
          <a:prstGeom prst="roundRect">
            <a:avLst>
              <a:gd name="adj" fmla="val 10256"/>
            </a:avLst>
          </a:prstGeom>
          <a:solidFill>
            <a:schemeClr val="accent3"/>
          </a:solidFill>
          <a:ln/>
        </p:spPr>
      </p:sp>
      <p:sp>
        <p:nvSpPr>
          <p:cNvPr id="10"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1"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Claims built on ENSO coupling (1(d), 3, 10, 14) conflict with the disclosed results and need revising; the mesh and batching claims are the strongest.</a:t>
            </a:r>
            <a:endParaRPr lang="en-US" sz="1400" dirty="0"/>
          </a:p>
        </p:txBody>
      </p:sp>
      <p:sp>
        <p:nvSpPr>
          <p:cNvPr id="12"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Source: docs/patent/patent_application.md, claims 1–15</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6"/>
                </a:solidFill>
              </a:rPr>
              <a:t>CONCLUSIONS</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bg1"/>
                </a:solidFill>
              </a:rPr>
              <a:t>What the evidence supports</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accent5"/>
                </a:solidFill>
              </a:rPr>
              <a:t>One finding per model from this run, and the next step it points to.</a:t>
            </a:r>
            <a:endParaRPr lang="en-US" sz="1400" dirty="0"/>
          </a:p>
        </p:txBody>
      </p:sp>
      <p:sp>
        <p:nvSpPr>
          <p:cNvPr id="6" name="Finding 1"/>
          <p:cNvSpPr txBox="1"/>
          <p:nvPr/>
        </p:nvSpPr>
        <p:spPr>
          <a:xfrm>
            <a:off x="812800" y="2194560"/>
            <a:ext cx="5077308" cy="121158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latin typeface="+mj-lt" pitchFamily="34" charset="0"/>
                <a:ea typeface="+mj-lt" pitchFamily="34" charset="-122"/>
                <a:cs typeface="+mj-lt" pitchFamily="34" charset="-120"/>
              </a:rPr>
              <a:t>El Niño</a:t>
            </a:r>
            <a:endParaRPr lang="en-US" sz="2000" dirty="0"/>
          </a:p>
          <a:p>
            <a:pPr indent="0" marL="0">
              <a:buNone/>
            </a:pPr>
            <a:r>
              <a:rPr lang="en-US" sz="1400" dirty="0">
                <a:solidFill>
                  <a:schemeClr val="accent5"/>
                </a:solidFill>
              </a:rPr>
              <a:t>TFT and LSTM are comparable and beat persistence from 2–3 months; next, remove the shared cold bias</a:t>
            </a:r>
            <a:endParaRPr lang="en-US" sz="2000" dirty="0"/>
          </a:p>
        </p:txBody>
      </p:sp>
      <p:sp>
        <p:nvSpPr>
          <p:cNvPr id="7" name="Finding 2"/>
          <p:cNvSpPr txBox="1"/>
          <p:nvPr/>
        </p:nvSpPr>
        <p:spPr>
          <a:xfrm>
            <a:off x="6301588" y="2194560"/>
            <a:ext cx="5077308" cy="121158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latin typeface="+mj-lt" pitchFamily="34" charset="0"/>
                <a:ea typeface="+mj-lt" pitchFamily="34" charset="-122"/>
                <a:cs typeface="+mj-lt" pitchFamily="34" charset="-120"/>
              </a:rPr>
              <a:t>Air pollution</a:t>
            </a:r>
            <a:endParaRPr lang="en-US" sz="2000" dirty="0"/>
          </a:p>
          <a:p>
            <a:pPr indent="0" marL="0">
              <a:buNone/>
            </a:pPr>
            <a:r>
              <a:rPr lang="en-US" sz="1400" dirty="0">
                <a:solidFill>
                  <a:schemeClr val="accent5"/>
                </a:solidFill>
              </a:rPr>
              <a:t>10 % below persistence on concentration; next, a longer download to test exceedance skill</a:t>
            </a:r>
            <a:endParaRPr lang="en-US" sz="2000" dirty="0"/>
          </a:p>
        </p:txBody>
      </p:sp>
      <p:sp>
        <p:nvSpPr>
          <p:cNvPr id="8" name="Finding 3"/>
          <p:cNvSpPr txBox="1"/>
          <p:nvPr/>
        </p:nvSpPr>
        <p:spPr>
          <a:xfrm>
            <a:off x="812800" y="3817620"/>
            <a:ext cx="5077308" cy="121158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latin typeface="+mj-lt" pitchFamily="34" charset="0"/>
                <a:ea typeface="+mj-lt" pitchFamily="34" charset="-122"/>
                <a:cs typeface="+mj-lt" pitchFamily="34" charset="-120"/>
              </a:rPr>
              <a:t>Weather</a:t>
            </a:r>
            <a:endParaRPr lang="en-US" sz="2000" dirty="0"/>
          </a:p>
          <a:p>
            <a:pPr indent="0" marL="0">
              <a:buNone/>
            </a:pPr>
            <a:r>
              <a:rPr lang="en-US" sz="1400" dirty="0">
                <a:solidFill>
                  <a:schemeClr val="accent5"/>
                </a:solidFill>
              </a:rPr>
              <a:t>Halves persistence error at 6 hours; ENSO coupling is not supported on two years of data</a:t>
            </a:r>
            <a:endParaRPr lang="en-US" sz="2000" dirty="0"/>
          </a:p>
        </p:txBody>
      </p:sp>
      <p:sp>
        <p:nvSpPr>
          <p:cNvPr id="9" name="Finding 4"/>
          <p:cNvSpPr txBox="1"/>
          <p:nvPr/>
        </p:nvSpPr>
        <p:spPr>
          <a:xfrm>
            <a:off x="6301588" y="3817620"/>
            <a:ext cx="5077308" cy="121158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latin typeface="+mj-lt" pitchFamily="34" charset="0"/>
                <a:ea typeface="+mj-lt" pitchFamily="34" charset="-122"/>
                <a:cs typeface="+mj-lt" pitchFamily="34" charset="-120"/>
              </a:rPr>
              <a:t>Warming rate</a:t>
            </a:r>
            <a:endParaRPr lang="en-US" sz="2000" dirty="0"/>
          </a:p>
          <a:p>
            <a:pPr indent="0" marL="0">
              <a:buNone/>
            </a:pPr>
            <a:r>
              <a:rPr lang="en-US" sz="1400" dirty="0">
                <a:solidFill>
                  <a:schemeClr val="accent5"/>
                </a:solidFill>
              </a:rPr>
              <a:t>A regime change around 1976, from 0.03 to 0.21 °C per decade</a:t>
            </a:r>
            <a:endParaRPr lang="en-US" sz="2000" dirty="0"/>
          </a:p>
        </p:txBody>
      </p:sp>
      <p:sp>
        <p:nvSpPr>
          <p:cNvPr id="10" name="Takeaway box"/>
          <p:cNvSpPr/>
          <p:nvPr/>
        </p:nvSpPr>
        <p:spPr>
          <a:xfrm>
            <a:off x="812800" y="5376672"/>
            <a:ext cx="10566095" cy="713232"/>
          </a:xfrm>
          <a:prstGeom prst="roundRect">
            <a:avLst>
              <a:gd name="adj" fmla="val 10256"/>
            </a:avLst>
          </a:prstGeom>
          <a:solidFill>
            <a:schemeClr val="bg2"/>
          </a:solidFill>
          <a:ln/>
        </p:spPr>
      </p:sp>
      <p:sp>
        <p:nvSpPr>
          <p:cNvPr id="11"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2"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The integration works and is reproducible; the scientific claims must stay modest, and ENSO coupling of the weather model is not supported.</a:t>
            </a:r>
            <a:endParaRPr lang="en-US" sz="1400" dirty="0"/>
          </a:p>
        </p:txBody>
      </p:sp>
      <p:sp>
        <p:nvSpPr>
          <p:cNvPr id="13"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ClimatePulse · run 20261027_230426</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Eyebrow"/>
          <p:cNvSpPr txBox="1"/>
          <p:nvPr/>
        </p:nvSpPr>
        <p:spPr>
          <a:xfrm>
            <a:off x="812800" y="530352"/>
            <a:ext cx="10566095" cy="256032"/>
          </a:xfrm>
          <a:prstGeom prst="rect">
            <a:avLst/>
          </a:prstGeom>
          <a:noFill/>
          <a:ln/>
        </p:spPr>
        <p:txBody>
          <a:bodyPr wrap="square" lIns="0" tIns="0" rIns="0" bIns="0" rtlCol="0" anchor="ctr"/>
          <a:lstStyle/>
          <a:p>
            <a:pPr indent="0" marL="0">
              <a:buNone/>
            </a:pPr>
            <a:r>
              <a:rPr lang="en-US" sz="1200" b="1" spc="300" kern="0" dirty="0">
                <a:solidFill>
                  <a:schemeClr val="accent1"/>
                </a:solidFill>
              </a:rPr>
              <a:t>HOW TO RUN</a:t>
            </a:r>
            <a:endParaRPr lang="en-US" sz="1200" dirty="0"/>
          </a:p>
        </p:txBody>
      </p:sp>
      <p:sp>
        <p:nvSpPr>
          <p:cNvPr id="4" name="Text 0"/>
          <p:cNvSpPr/>
          <p:nvPr>
            <p:ph idx="100" type="title" hasCustomPrompt="1"/>
          </p:nvPr>
        </p:nvSpPr>
        <p:spPr>
          <a:xfrm>
            <a:off x="812800" y="822960"/>
            <a:ext cx="10566095" cy="731520"/>
          </a:xfrm>
          <a:prstGeom prst="rect">
            <a:avLst/>
          </a:prstGeom>
          <a:noFill/>
          <a:ln/>
        </p:spPr>
        <p:txBody>
          <a:bodyPr wrap="square" lIns="0" tIns="0" rIns="0" bIns="0" rtlCol="0" anchor="t"/>
          <a:lstStyle/>
          <a:p>
            <a:pPr algn="l" indent="0" marL="0">
              <a:buNone/>
            </a:pPr>
            <a:r>
              <a:rPr lang="en-US" sz="3200" dirty="0">
                <a:solidFill>
                  <a:schemeClr val="tx1"/>
                </a:solidFill>
              </a:rPr>
              <a:t>Rebuild every result from a fresh clone</a:t>
            </a:r>
            <a:endParaRPr lang="en-US" sz="3200" dirty="0"/>
          </a:p>
        </p:txBody>
      </p:sp>
      <p:sp>
        <p:nvSpPr>
          <p:cNvPr id="5" name="Lede"/>
          <p:cNvSpPr txBox="1"/>
          <p:nvPr/>
        </p:nvSpPr>
        <p:spPr>
          <a:xfrm>
            <a:off x="812800" y="1536192"/>
            <a:ext cx="10332720" cy="548640"/>
          </a:xfrm>
          <a:prstGeom prst="rect">
            <a:avLst/>
          </a:prstGeom>
          <a:noFill/>
          <a:ln/>
        </p:spPr>
        <p:txBody>
          <a:bodyPr wrap="square" lIns="0" tIns="0" rIns="0" bIns="0" rtlCol="0" anchor="t"/>
          <a:lstStyle/>
          <a:p>
            <a:pPr indent="0" marL="0">
              <a:buNone/>
            </a:pPr>
            <a:r>
              <a:rPr lang="en-US" sz="1400" dirty="0">
                <a:solidFill>
                  <a:schemeClr val="tx2"/>
                </a:solidFill>
              </a:rPr>
              <a:t>Run these in order, from §7 of the research paper. The same steps are listed in run.sh, and run.ipynb runs them on Google Colab.</a:t>
            </a:r>
            <a:endParaRPr lang="en-US" sz="1400" dirty="0"/>
          </a:p>
        </p:txBody>
      </p:sp>
      <p:sp>
        <p:nvSpPr>
          <p:cNvPr id="6" name="Code block 1"/>
          <p:cNvSpPr/>
          <p:nvPr/>
        </p:nvSpPr>
        <p:spPr>
          <a:xfrm>
            <a:off x="812800" y="2194560"/>
            <a:ext cx="5145888" cy="3017520"/>
          </a:xfrm>
          <a:prstGeom prst="roundRect">
            <a:avLst>
              <a:gd name="adj" fmla="val 2424"/>
            </a:avLst>
          </a:prstGeom>
          <a:solidFill>
            <a:schemeClr val="tx1"/>
          </a:solidFill>
          <a:ln/>
        </p:spPr>
      </p:sp>
      <p:sp>
        <p:nvSpPr>
          <p:cNvPr id="7" name="Code 1"/>
          <p:cNvSpPr txBox="1"/>
          <p:nvPr/>
        </p:nvSpPr>
        <p:spPr>
          <a:xfrm>
            <a:off x="995680" y="2304288"/>
            <a:ext cx="4780128" cy="2798064"/>
          </a:xfrm>
          <a:prstGeom prst="rect">
            <a:avLst/>
          </a:prstGeom>
          <a:noFill/>
          <a:ln/>
        </p:spPr>
        <p:txBody>
          <a:bodyPr wrap="square" lIns="0" tIns="0" rIns="0" bIns="0" rtlCol="0" anchor="t"/>
          <a:lstStyle/>
          <a:p>
            <a:pPr indent="0" marL="0">
              <a:buNone/>
            </a:pPr>
            <a:r>
              <a:rPr lang="en-US" sz="1200" i="1" dirty="0">
                <a:solidFill>
                  <a:srgbClr val="9CA3AF"/>
                </a:solidFill>
                <a:latin typeface="Courier New" pitchFamily="34" charset="0"/>
                <a:ea typeface="Courier New" pitchFamily="34" charset="-122"/>
                <a:cs typeface="Courier New" pitchFamily="34" charset="-120"/>
              </a:rPr>
              <a:t># 0. Get the code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git clone https://github.com/aditripaul/climatepulse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cd climatepulse</a:t>
            </a:r>
            <a:endParaRPr lang="en-US" sz="1200" dirty="0"/>
          </a:p>
          <a:p>
            <a:pPr indent="0" marL="0">
              <a:buNone/>
            </a:pPr>
            <a:r>
              <a:rPr lang="en-US" sz="1200" i="1" dirty="0">
                <a:solidFill>
                  <a:srgbClr val="9CA3AF"/>
                </a:solidFill>
                <a:latin typeface="Courier New" pitchFamily="34" charset="0"/>
                <a:ea typeface="Courier New" pitchFamily="34" charset="-122"/>
                <a:cs typeface="Courier New" pitchFamily="34" charset="-120"/>
              </a:rPr>
              <a:t># 1. Environment and credentials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install-dev</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cp -n .env.example .env   # DATA_OPENAQ_API_KEY</a:t>
            </a:r>
            <a:endParaRPr lang="en-US" sz="1200" dirty="0"/>
          </a:p>
          <a:p>
            <a:pPr indent="0" marL="0">
              <a:buNone/>
            </a:pPr>
            <a:r>
              <a:rPr lang="en-US" sz="1200" i="1" dirty="0">
                <a:solidFill>
                  <a:srgbClr val="9CA3AF"/>
                </a:solidFill>
                <a:latin typeface="Courier New" pitchFamily="34" charset="0"/>
                <a:ea typeface="Courier New" pitchFamily="34" charset="-122"/>
                <a:cs typeface="Courier New" pitchFamily="34" charset="-120"/>
              </a:rPr>
              <a:t># 2. Data</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download-data</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download-nwm-data</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test</a:t>
            </a:r>
            <a:endParaRPr lang="en-US" sz="1200" dirty="0"/>
          </a:p>
          <a:p>
            <a:pPr indent="0" marL="0">
              <a:buNone/>
            </a:pPr>
            <a:r>
              <a:rPr lang="en-US" sz="1200" i="1" dirty="0">
                <a:solidFill>
                  <a:srgbClr val="9CA3AF"/>
                </a:solidFill>
                <a:latin typeface="Courier New" pitchFamily="34" charset="0"/>
                <a:ea typeface="Courier New" pitchFamily="34" charset="-122"/>
                <a:cs typeface="Courier New" pitchFamily="34" charset="-120"/>
              </a:rPr>
              <a:t># 3. El Niño: five seeds, then main run</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train-elnino-seeds</a:t>
            </a:r>
            <a:endParaRPr lang="en-US" sz="1200" dirty="0"/>
          </a:p>
          <a:p>
            <a:pPr indent="0" marL="0">
              <a:buNone/>
            </a:pPr>
            <a:r>
              <a:rPr lang="en-US" sz="1200" i="1" dirty="0">
                <a:solidFill>
                  <a:srgbClr val="9CA3AF"/>
                </a:solidFill>
                <a:latin typeface="Courier New" pitchFamily="34" charset="0"/>
                <a:ea typeface="Courier New" pitchFamily="34" charset="-122"/>
                <a:cs typeface="Courier New" pitchFamily="34" charset="-120"/>
              </a:rPr>
              <a:t># set tft_use_year from the selection file</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train-elnino</a:t>
            </a:r>
            <a:endParaRPr lang="en-US" sz="1200" dirty="0"/>
          </a:p>
        </p:txBody>
      </p:sp>
      <p:sp>
        <p:nvSpPr>
          <p:cNvPr id="8" name="Code block 2"/>
          <p:cNvSpPr/>
          <p:nvPr/>
        </p:nvSpPr>
        <p:spPr>
          <a:xfrm>
            <a:off x="6233008" y="2194560"/>
            <a:ext cx="5145888" cy="3017520"/>
          </a:xfrm>
          <a:prstGeom prst="roundRect">
            <a:avLst>
              <a:gd name="adj" fmla="val 2424"/>
            </a:avLst>
          </a:prstGeom>
          <a:solidFill>
            <a:schemeClr val="tx1"/>
          </a:solidFill>
          <a:ln/>
        </p:spPr>
      </p:sp>
      <p:sp>
        <p:nvSpPr>
          <p:cNvPr id="9" name="Code 2"/>
          <p:cNvSpPr txBox="1"/>
          <p:nvPr/>
        </p:nvSpPr>
        <p:spPr>
          <a:xfrm>
            <a:off x="6415888" y="2304288"/>
            <a:ext cx="4780128" cy="2798064"/>
          </a:xfrm>
          <a:prstGeom prst="rect">
            <a:avLst/>
          </a:prstGeom>
          <a:noFill/>
          <a:ln/>
        </p:spPr>
        <p:txBody>
          <a:bodyPr wrap="square" lIns="0" tIns="0" rIns="0" bIns="0" rtlCol="0" anchor="t"/>
          <a:lstStyle/>
          <a:p>
            <a:pPr indent="0" marL="0">
              <a:buNone/>
            </a:pPr>
            <a:r>
              <a:rPr lang="en-US" sz="1200" i="1" dirty="0">
                <a:solidFill>
                  <a:srgbClr val="9CA3AF"/>
                </a:solidFill>
                <a:latin typeface="Courier New" pitchFamily="34" charset="0"/>
                <a:ea typeface="Courier New" pitchFamily="34" charset="-122"/>
                <a:cs typeface="Courier New" pitchFamily="34" charset="-120"/>
              </a:rPr>
              <a:t># 4. Other models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train-pollution</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train-nwm   # about 2 h on CPU</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export-tft-forecasts   # needs main TFT</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nwm-ablation   # about 5 h on CPU</a:t>
            </a:r>
            <a:endParaRPr lang="en-US" sz="1200" dirty="0"/>
          </a:p>
          <a:p>
            <a:pPr indent="0" marL="0">
              <a:buNone/>
            </a:pPr>
            <a:r>
              <a:rPr lang="en-US" sz="1200" i="1" dirty="0">
                <a:solidFill>
                  <a:srgbClr val="9CA3AF"/>
                </a:solidFill>
                <a:latin typeface="Courier New" pitchFamily="34" charset="0"/>
                <a:ea typeface="Courier New" pitchFamily="34" charset="-122"/>
                <a:cs typeface="Courier New" pitchFamily="34" charset="-120"/>
              </a:rPr>
              <a:t># 5. Artifacts, snapshot, documents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gen-eval-artifacts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save-run</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sync-paper-artifacts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make gen-research-paper-pdf</a:t>
            </a:r>
            <a:endParaRPr lang="en-US" sz="1200" dirty="0"/>
          </a:p>
        </p:txBody>
      </p:sp>
      <p:sp>
        <p:nvSpPr>
          <p:cNvPr id="10" name="Takeaway box"/>
          <p:cNvSpPr/>
          <p:nvPr/>
        </p:nvSpPr>
        <p:spPr>
          <a:xfrm>
            <a:off x="812800" y="5376672"/>
            <a:ext cx="10566095" cy="713232"/>
          </a:xfrm>
          <a:prstGeom prst="roundRect">
            <a:avLst>
              <a:gd name="adj" fmla="val 10256"/>
            </a:avLst>
          </a:prstGeom>
          <a:solidFill>
            <a:schemeClr val="accent3"/>
          </a:solidFill>
          <a:ln/>
        </p:spPr>
      </p:sp>
      <p:sp>
        <p:nvSpPr>
          <p:cNvPr id="11" name="Takeaway label"/>
          <p:cNvSpPr txBox="1"/>
          <p:nvPr/>
        </p:nvSpPr>
        <p:spPr>
          <a:xfrm>
            <a:off x="1041400" y="5376672"/>
            <a:ext cx="1188720" cy="713232"/>
          </a:xfrm>
          <a:prstGeom prst="rect">
            <a:avLst/>
          </a:prstGeom>
          <a:noFill/>
          <a:ln/>
        </p:spPr>
        <p:txBody>
          <a:bodyPr wrap="square" lIns="0" tIns="0" rIns="0" bIns="0" rtlCol="0" anchor="ctr"/>
          <a:lstStyle/>
          <a:p>
            <a:pPr indent="0" marL="0">
              <a:buNone/>
            </a:pPr>
            <a:r>
              <a:rPr lang="en-US" sz="1200" b="1" spc="200" kern="0" dirty="0">
                <a:solidFill>
                  <a:schemeClr val="accent2"/>
                </a:solidFill>
              </a:rPr>
              <a:t>TAKEAWAY</a:t>
            </a:r>
            <a:endParaRPr lang="en-US" sz="1200" dirty="0"/>
          </a:p>
        </p:txBody>
      </p:sp>
      <p:sp>
        <p:nvSpPr>
          <p:cNvPr id="12" name="Takeaway"/>
          <p:cNvSpPr txBox="1"/>
          <p:nvPr/>
        </p:nvSpPr>
        <p:spPr>
          <a:xfrm>
            <a:off x="2321560" y="5376672"/>
            <a:ext cx="8828735" cy="713232"/>
          </a:xfrm>
          <a:prstGeom prst="rect">
            <a:avLst/>
          </a:prstGeom>
          <a:noFill/>
          <a:ln/>
        </p:spPr>
        <p:txBody>
          <a:bodyPr wrap="square" lIns="0" tIns="0" rIns="0" bIns="0" rtlCol="0" anchor="ctr"/>
          <a:lstStyle/>
          <a:p>
            <a:pPr indent="0" marL="0">
              <a:buNone/>
            </a:pPr>
            <a:r>
              <a:rPr lang="en-US" sz="1400" dirty="0">
                <a:solidFill>
                  <a:schemeClr val="tx1"/>
                </a:solidFill>
              </a:rPr>
              <a:t>One ordered run rebuilds every figure and table; the committed snapshot run_20261027_230426 lets you check results without retraining.</a:t>
            </a:r>
            <a:endParaRPr lang="en-US" sz="1400" dirty="0"/>
          </a:p>
        </p:txBody>
      </p:sp>
      <p:sp>
        <p:nvSpPr>
          <p:cNvPr id="13" name="Source"/>
          <p:cNvSpPr txBox="1"/>
          <p:nvPr/>
        </p:nvSpPr>
        <p:spPr>
          <a:xfrm>
            <a:off x="812800" y="6327648"/>
            <a:ext cx="9468815" cy="274320"/>
          </a:xfrm>
          <a:prstGeom prst="rect">
            <a:avLst/>
          </a:prstGeom>
          <a:noFill/>
          <a:ln/>
        </p:spPr>
        <p:txBody>
          <a:bodyPr wrap="square" lIns="0" tIns="0" rIns="0" bIns="0" rtlCol="0" anchor="ctr"/>
          <a:lstStyle/>
          <a:p>
            <a:pPr indent="0" marL="0">
              <a:buNone/>
            </a:pPr>
            <a:r>
              <a:rPr lang="en-US" sz="1200" dirty="0">
                <a:solidFill>
                  <a:schemeClr val="accent4"/>
                </a:solidFill>
              </a:rPr>
              <a:t>github.com/aditripaul/climatepulse · GPL v3.0</a:t>
            </a:r>
            <a:endParaRPr lang="en-US" sz="1200" dirty="0"/>
          </a:p>
        </p:txBody>
      </p:sp>
      <p:sp>
        <p:nvSpPr>
          <p:cNvPr id="25" name="Slide Number Placeholder 0"/>
          <p:cNvSpPr>
            <a:spLocks noGrp="1"/>
          </p:cNvSpPr>
          <p:nvPr>
            <p:ph type="sldNum" sz="quarter" idx="4294967295"/>
          </p:nvPr>
        </p:nvSpPr>
        <p:spPr>
          <a:xfrm>
            <a:off x="10647375" y="6327648"/>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ClimatePulse">
  <a:themeElements>
    <a:clrScheme name="ClimatePulse">
      <a:dk1>
        <a:srgbClr val="1F2937"/>
      </a:dk1>
      <a:lt1>
        <a:srgbClr val="FFFFFF"/>
      </a:lt1>
      <a:dk2>
        <a:srgbClr val="4B5563"/>
      </a:dk2>
      <a:lt2>
        <a:srgbClr val="F3F4F6"/>
      </a:lt2>
      <a:accent1>
        <a:srgbClr val="2F6DB5"/>
      </a:accent1>
      <a:accent2>
        <a:srgbClr val="1E4E8C"/>
      </a:accent2>
      <a:accent3>
        <a:srgbClr val="EAF0F8"/>
      </a:accent3>
      <a:accent4>
        <a:srgbClr val="6B7280"/>
      </a:accent4>
      <a:accent5>
        <a:srgbClr val="E5E7EB"/>
      </a:accent5>
      <a:accent6>
        <a:srgbClr val="A9C4E8"/>
      </a:accent6>
      <a:hlink>
        <a:srgbClr val="2F6DB5"/>
      </a:hlink>
      <a:folHlink>
        <a:srgbClr val="6B7280"/>
      </a:folHlink>
    </a:clrScheme>
    <a:fontScheme name="Climate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Manipal University Jaipur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ClimatePulse: research results</dc:title>
  <dc:subject>PptxGenJS Presentation</dc:subject>
  <dc:creator>Aditri Paul, Hema Shekhawat</dc:creator>
  <cp:lastModifiedBy>Aditri Paul, Hema Shekhawat</cp:lastModifiedBy>
  <cp:revision>1</cp:revision>
  <dcterms:created xsi:type="dcterms:W3CDTF">2026-10-30T15:38:49Z</dcterms:created>
  <dcterms:modified xsi:type="dcterms:W3CDTF">2026-10-30T15:38:49Z</dcterms:modified>
</cp:coreProperties>
</file>